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679" r:id="rId3"/>
    <p:sldId id="680" r:id="rId4"/>
    <p:sldId id="681" r:id="rId5"/>
    <p:sldId id="682" r:id="rId6"/>
    <p:sldId id="683" r:id="rId7"/>
    <p:sldId id="684" r:id="rId8"/>
    <p:sldId id="685" r:id="rId9"/>
    <p:sldId id="686" r:id="rId10"/>
    <p:sldId id="687" r:id="rId11"/>
    <p:sldId id="688" r:id="rId12"/>
    <p:sldId id="689" r:id="rId13"/>
    <p:sldId id="690" r:id="rId14"/>
    <p:sldId id="692" r:id="rId15"/>
    <p:sldId id="693" r:id="rId16"/>
    <p:sldId id="694" r:id="rId17"/>
    <p:sldId id="695" r:id="rId18"/>
    <p:sldId id="697" r:id="rId19"/>
    <p:sldId id="698" r:id="rId20"/>
    <p:sldId id="699" r:id="rId21"/>
    <p:sldId id="700" r:id="rId22"/>
    <p:sldId id="701" r:id="rId23"/>
    <p:sldId id="702" r:id="rId24"/>
    <p:sldId id="703" r:id="rId25"/>
    <p:sldId id="704" r:id="rId26"/>
    <p:sldId id="705" r:id="rId27"/>
    <p:sldId id="707" r:id="rId28"/>
    <p:sldId id="708" r:id="rId29"/>
    <p:sldId id="710" r:id="rId30"/>
    <p:sldId id="711" r:id="rId31"/>
    <p:sldId id="709" r:id="rId32"/>
    <p:sldId id="713" r:id="rId33"/>
    <p:sldId id="712" r:id="rId34"/>
    <p:sldId id="714" r:id="rId35"/>
    <p:sldId id="715" r:id="rId36"/>
    <p:sldId id="717" r:id="rId37"/>
    <p:sldId id="716" r:id="rId38"/>
    <p:sldId id="719" r:id="rId39"/>
    <p:sldId id="718" r:id="rId40"/>
    <p:sldId id="706" r:id="rId41"/>
    <p:sldId id="696" r:id="rId42"/>
    <p:sldId id="691"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43AC4A-C881-4116-86D6-2FDE32175B21}" type="datetimeFigureOut">
              <a:rPr lang="en-IN" smtClean="0"/>
              <a:t>01-05-2025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A4407-3873-405F-A102-795B1694626C}" type="slidenum">
              <a:rPr lang="en-IN" smtClean="0"/>
              <a:t>‹#›</a:t>
            </a:fld>
            <a:endParaRPr lang="en-IN"/>
          </a:p>
        </p:txBody>
      </p:sp>
    </p:spTree>
    <p:extLst>
      <p:ext uri="{BB962C8B-B14F-4D97-AF65-F5344CB8AC3E}">
        <p14:creationId xmlns:p14="http://schemas.microsoft.com/office/powerpoint/2010/main" val="705042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28A4407-3873-405F-A102-795B1694626C}" type="slidenum">
              <a:rPr lang="en-IN" smtClean="0"/>
              <a:t>20</a:t>
            </a:fld>
            <a:endParaRPr lang="en-IN"/>
          </a:p>
        </p:txBody>
      </p:sp>
    </p:spTree>
    <p:extLst>
      <p:ext uri="{BB962C8B-B14F-4D97-AF65-F5344CB8AC3E}">
        <p14:creationId xmlns:p14="http://schemas.microsoft.com/office/powerpoint/2010/main" val="1172131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7A8DC-CDE5-FC10-6C3B-25093D9660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18ED35-A0C2-7DAE-4F1F-29CF1E7777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41BFEB-AD37-37AD-6DA6-4FE31A5B435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11F0EFA-BA63-9DE1-9CA2-5BFB3C7FCA82}"/>
              </a:ext>
            </a:extLst>
          </p:cNvPr>
          <p:cNvSpPr>
            <a:spLocks noGrp="1"/>
          </p:cNvSpPr>
          <p:nvPr>
            <p:ph type="sldNum" sz="quarter" idx="5"/>
          </p:nvPr>
        </p:nvSpPr>
        <p:spPr/>
        <p:txBody>
          <a:bodyPr/>
          <a:lstStyle/>
          <a:p>
            <a:fld id="{828A4407-3873-405F-A102-795B1694626C}" type="slidenum">
              <a:rPr lang="en-IN" smtClean="0"/>
              <a:t>21</a:t>
            </a:fld>
            <a:endParaRPr lang="en-IN"/>
          </a:p>
        </p:txBody>
      </p:sp>
    </p:spTree>
    <p:extLst>
      <p:ext uri="{BB962C8B-B14F-4D97-AF65-F5344CB8AC3E}">
        <p14:creationId xmlns:p14="http://schemas.microsoft.com/office/powerpoint/2010/main" val="358633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E3BEE-30A0-606B-CFE9-3E31CD932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85860C-CC33-00D1-E13F-F318EF3F21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B9203-0076-8963-81D3-7962B7D4103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C5B1C1-945D-15CD-B0B3-FF78E5FF8C98}"/>
              </a:ext>
            </a:extLst>
          </p:cNvPr>
          <p:cNvSpPr>
            <a:spLocks noGrp="1"/>
          </p:cNvSpPr>
          <p:nvPr>
            <p:ph type="sldNum" sz="quarter" idx="5"/>
          </p:nvPr>
        </p:nvSpPr>
        <p:spPr/>
        <p:txBody>
          <a:bodyPr/>
          <a:lstStyle/>
          <a:p>
            <a:fld id="{828A4407-3873-405F-A102-795B1694626C}" type="slidenum">
              <a:rPr lang="en-IN" smtClean="0"/>
              <a:t>22</a:t>
            </a:fld>
            <a:endParaRPr lang="en-IN"/>
          </a:p>
        </p:txBody>
      </p:sp>
    </p:spTree>
    <p:extLst>
      <p:ext uri="{BB962C8B-B14F-4D97-AF65-F5344CB8AC3E}">
        <p14:creationId xmlns:p14="http://schemas.microsoft.com/office/powerpoint/2010/main" val="4127232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A63FA-C797-9D9D-49CD-522BAABFF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5EF268-FD1D-D6E0-437F-B686FEAA87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435B2B-AB99-0744-B0C0-8FAA7E9E0BF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B13CC27-4590-7D3E-DE13-D6F7D7FD8E1C}"/>
              </a:ext>
            </a:extLst>
          </p:cNvPr>
          <p:cNvSpPr>
            <a:spLocks noGrp="1"/>
          </p:cNvSpPr>
          <p:nvPr>
            <p:ph type="sldNum" sz="quarter" idx="5"/>
          </p:nvPr>
        </p:nvSpPr>
        <p:spPr/>
        <p:txBody>
          <a:bodyPr/>
          <a:lstStyle/>
          <a:p>
            <a:fld id="{828A4407-3873-405F-A102-795B1694626C}" type="slidenum">
              <a:rPr lang="en-IN" smtClean="0"/>
              <a:t>23</a:t>
            </a:fld>
            <a:endParaRPr lang="en-IN"/>
          </a:p>
        </p:txBody>
      </p:sp>
    </p:spTree>
    <p:extLst>
      <p:ext uri="{BB962C8B-B14F-4D97-AF65-F5344CB8AC3E}">
        <p14:creationId xmlns:p14="http://schemas.microsoft.com/office/powerpoint/2010/main" val="3576593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EDC82-A755-F356-A8BB-BD6E98AD6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7036C1-418F-4521-A9B8-508291A4ED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4A5E9C-2B3B-FC40-D208-25E76473527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FE2B617-DEC9-5D05-FB69-64958E164C5D}"/>
              </a:ext>
            </a:extLst>
          </p:cNvPr>
          <p:cNvSpPr>
            <a:spLocks noGrp="1"/>
          </p:cNvSpPr>
          <p:nvPr>
            <p:ph type="sldNum" sz="quarter" idx="5"/>
          </p:nvPr>
        </p:nvSpPr>
        <p:spPr/>
        <p:txBody>
          <a:bodyPr/>
          <a:lstStyle/>
          <a:p>
            <a:fld id="{828A4407-3873-405F-A102-795B1694626C}" type="slidenum">
              <a:rPr lang="en-IN" smtClean="0"/>
              <a:t>24</a:t>
            </a:fld>
            <a:endParaRPr lang="en-IN"/>
          </a:p>
        </p:txBody>
      </p:sp>
    </p:spTree>
    <p:extLst>
      <p:ext uri="{BB962C8B-B14F-4D97-AF65-F5344CB8AC3E}">
        <p14:creationId xmlns:p14="http://schemas.microsoft.com/office/powerpoint/2010/main" val="402912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03D66-196E-8A22-739D-85262063C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BF3AA-E67D-B716-2090-984FD2113C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550231-A180-4AC4-47CC-C592FD976D2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8EB97D-0AA9-2BBE-5B43-A2BBDB6E48DD}"/>
              </a:ext>
            </a:extLst>
          </p:cNvPr>
          <p:cNvSpPr>
            <a:spLocks noGrp="1"/>
          </p:cNvSpPr>
          <p:nvPr>
            <p:ph type="sldNum" sz="quarter" idx="5"/>
          </p:nvPr>
        </p:nvSpPr>
        <p:spPr/>
        <p:txBody>
          <a:bodyPr/>
          <a:lstStyle/>
          <a:p>
            <a:fld id="{828A4407-3873-405F-A102-795B1694626C}" type="slidenum">
              <a:rPr lang="en-IN" smtClean="0"/>
              <a:t>25</a:t>
            </a:fld>
            <a:endParaRPr lang="en-IN"/>
          </a:p>
        </p:txBody>
      </p:sp>
    </p:spTree>
    <p:extLst>
      <p:ext uri="{BB962C8B-B14F-4D97-AF65-F5344CB8AC3E}">
        <p14:creationId xmlns:p14="http://schemas.microsoft.com/office/powerpoint/2010/main" val="1439203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77E97-E30A-19E6-4E2E-69F0D078D7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C8B448-BEDE-0328-5C0E-268F935202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D106A6-1751-18A5-7E5F-2363783B966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F6FE90B-5704-DF43-529D-7C84A6E28232}"/>
              </a:ext>
            </a:extLst>
          </p:cNvPr>
          <p:cNvSpPr>
            <a:spLocks noGrp="1"/>
          </p:cNvSpPr>
          <p:nvPr>
            <p:ph type="sldNum" sz="quarter" idx="5"/>
          </p:nvPr>
        </p:nvSpPr>
        <p:spPr/>
        <p:txBody>
          <a:bodyPr/>
          <a:lstStyle/>
          <a:p>
            <a:fld id="{828A4407-3873-405F-A102-795B1694626C}" type="slidenum">
              <a:rPr lang="en-IN" smtClean="0"/>
              <a:t>26</a:t>
            </a:fld>
            <a:endParaRPr lang="en-IN"/>
          </a:p>
        </p:txBody>
      </p:sp>
    </p:spTree>
    <p:extLst>
      <p:ext uri="{BB962C8B-B14F-4D97-AF65-F5344CB8AC3E}">
        <p14:creationId xmlns:p14="http://schemas.microsoft.com/office/powerpoint/2010/main" val="1983871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091A2-38D1-C60B-7B4A-26CA1B56C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05CE7-16FC-83E4-A3B3-058DA32C62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FF746B-9E72-0DA1-0AE2-FAE545F72CD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95A9D6-FE74-7E37-8DFA-9DC0BB554AAB}"/>
              </a:ext>
            </a:extLst>
          </p:cNvPr>
          <p:cNvSpPr>
            <a:spLocks noGrp="1"/>
          </p:cNvSpPr>
          <p:nvPr>
            <p:ph type="sldNum" sz="quarter" idx="5"/>
          </p:nvPr>
        </p:nvSpPr>
        <p:spPr/>
        <p:txBody>
          <a:bodyPr/>
          <a:lstStyle/>
          <a:p>
            <a:fld id="{828A4407-3873-405F-A102-795B1694626C}" type="slidenum">
              <a:rPr lang="en-IN" smtClean="0"/>
              <a:t>27</a:t>
            </a:fld>
            <a:endParaRPr lang="en-IN"/>
          </a:p>
        </p:txBody>
      </p:sp>
    </p:spTree>
    <p:extLst>
      <p:ext uri="{BB962C8B-B14F-4D97-AF65-F5344CB8AC3E}">
        <p14:creationId xmlns:p14="http://schemas.microsoft.com/office/powerpoint/2010/main" val="1953978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427F3-0B66-3C25-B780-3637E218BA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01F7CE-63FF-41A3-4AF1-EF6FC2D080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1B9059-001F-EBD3-697B-602A1702CE3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9A10A8B-EF88-979F-5148-22E753E3B820}"/>
              </a:ext>
            </a:extLst>
          </p:cNvPr>
          <p:cNvSpPr>
            <a:spLocks noGrp="1"/>
          </p:cNvSpPr>
          <p:nvPr>
            <p:ph type="sldNum" sz="quarter" idx="5"/>
          </p:nvPr>
        </p:nvSpPr>
        <p:spPr/>
        <p:txBody>
          <a:bodyPr/>
          <a:lstStyle/>
          <a:p>
            <a:fld id="{828A4407-3873-405F-A102-795B1694626C}" type="slidenum">
              <a:rPr lang="en-IN" smtClean="0"/>
              <a:t>28</a:t>
            </a:fld>
            <a:endParaRPr lang="en-IN"/>
          </a:p>
        </p:txBody>
      </p:sp>
    </p:spTree>
    <p:extLst>
      <p:ext uri="{BB962C8B-B14F-4D97-AF65-F5344CB8AC3E}">
        <p14:creationId xmlns:p14="http://schemas.microsoft.com/office/powerpoint/2010/main" val="2682509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EFD2C-F15F-7780-0CFF-550A7421C6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966393-6D18-F82D-374E-FFEF5DBEB9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A75802-4969-820D-9BCD-E95D85A566C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3206200-66D3-D52F-D06C-D38C2F394145}"/>
              </a:ext>
            </a:extLst>
          </p:cNvPr>
          <p:cNvSpPr>
            <a:spLocks noGrp="1"/>
          </p:cNvSpPr>
          <p:nvPr>
            <p:ph type="sldNum" sz="quarter" idx="5"/>
          </p:nvPr>
        </p:nvSpPr>
        <p:spPr/>
        <p:txBody>
          <a:bodyPr/>
          <a:lstStyle/>
          <a:p>
            <a:fld id="{828A4407-3873-405F-A102-795B1694626C}" type="slidenum">
              <a:rPr lang="en-IN" smtClean="0"/>
              <a:t>29</a:t>
            </a:fld>
            <a:endParaRPr lang="en-IN"/>
          </a:p>
        </p:txBody>
      </p:sp>
    </p:spTree>
    <p:extLst>
      <p:ext uri="{BB962C8B-B14F-4D97-AF65-F5344CB8AC3E}">
        <p14:creationId xmlns:p14="http://schemas.microsoft.com/office/powerpoint/2010/main" val="29621151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83DF5-6318-B658-2AC2-2160415D9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9C16D-6CBC-A927-D128-F218A880BB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1ED47-0DE2-01F0-9385-7A445872C1C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E6D05B0-EE8C-2AF5-BFFE-777EED72F636}"/>
              </a:ext>
            </a:extLst>
          </p:cNvPr>
          <p:cNvSpPr>
            <a:spLocks noGrp="1"/>
          </p:cNvSpPr>
          <p:nvPr>
            <p:ph type="sldNum" sz="quarter" idx="5"/>
          </p:nvPr>
        </p:nvSpPr>
        <p:spPr/>
        <p:txBody>
          <a:bodyPr/>
          <a:lstStyle/>
          <a:p>
            <a:fld id="{828A4407-3873-405F-A102-795B1694626C}" type="slidenum">
              <a:rPr lang="en-IN" smtClean="0"/>
              <a:t>30</a:t>
            </a:fld>
            <a:endParaRPr lang="en-IN"/>
          </a:p>
        </p:txBody>
      </p:sp>
    </p:spTree>
    <p:extLst>
      <p:ext uri="{BB962C8B-B14F-4D97-AF65-F5344CB8AC3E}">
        <p14:creationId xmlns:p14="http://schemas.microsoft.com/office/powerpoint/2010/main" val="8363435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34A45-2C94-BB80-5E8D-54B9506C6B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860FED-73E2-5E5D-B768-9905B184B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09CB2A-4E17-081A-B88D-81803547DC1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2934EAD-B0B9-0F86-166E-A268D1155672}"/>
              </a:ext>
            </a:extLst>
          </p:cNvPr>
          <p:cNvSpPr>
            <a:spLocks noGrp="1"/>
          </p:cNvSpPr>
          <p:nvPr>
            <p:ph type="sldNum" sz="quarter" idx="5"/>
          </p:nvPr>
        </p:nvSpPr>
        <p:spPr/>
        <p:txBody>
          <a:bodyPr/>
          <a:lstStyle/>
          <a:p>
            <a:fld id="{828A4407-3873-405F-A102-795B1694626C}" type="slidenum">
              <a:rPr lang="en-IN" smtClean="0"/>
              <a:t>31</a:t>
            </a:fld>
            <a:endParaRPr lang="en-IN"/>
          </a:p>
        </p:txBody>
      </p:sp>
    </p:spTree>
    <p:extLst>
      <p:ext uri="{BB962C8B-B14F-4D97-AF65-F5344CB8AC3E}">
        <p14:creationId xmlns:p14="http://schemas.microsoft.com/office/powerpoint/2010/main" val="557081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B82E3-65CA-6AA1-2B90-C79A4D2279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D4D27-2FF0-AA8F-50EC-91E8D7C38E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698D77-1C15-C94E-509D-618382F4A22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8BB3EEC-E6B8-AE0C-F01B-8409DB6B8768}"/>
              </a:ext>
            </a:extLst>
          </p:cNvPr>
          <p:cNvSpPr>
            <a:spLocks noGrp="1"/>
          </p:cNvSpPr>
          <p:nvPr>
            <p:ph type="sldNum" sz="quarter" idx="5"/>
          </p:nvPr>
        </p:nvSpPr>
        <p:spPr/>
        <p:txBody>
          <a:bodyPr/>
          <a:lstStyle/>
          <a:p>
            <a:fld id="{828A4407-3873-405F-A102-795B1694626C}" type="slidenum">
              <a:rPr lang="en-IN" smtClean="0"/>
              <a:t>32</a:t>
            </a:fld>
            <a:endParaRPr lang="en-IN"/>
          </a:p>
        </p:txBody>
      </p:sp>
    </p:spTree>
    <p:extLst>
      <p:ext uri="{BB962C8B-B14F-4D97-AF65-F5344CB8AC3E}">
        <p14:creationId xmlns:p14="http://schemas.microsoft.com/office/powerpoint/2010/main" val="41883917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74C57-30E5-8063-AFCE-4F03CE139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497A18-8A9B-1243-ABDC-CBD94F8755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1C8372-0490-4449-65B3-5FEF4064BBD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3EF64A5-D9D7-E9EF-A510-F1A3064B432C}"/>
              </a:ext>
            </a:extLst>
          </p:cNvPr>
          <p:cNvSpPr>
            <a:spLocks noGrp="1"/>
          </p:cNvSpPr>
          <p:nvPr>
            <p:ph type="sldNum" sz="quarter" idx="5"/>
          </p:nvPr>
        </p:nvSpPr>
        <p:spPr/>
        <p:txBody>
          <a:bodyPr/>
          <a:lstStyle/>
          <a:p>
            <a:fld id="{828A4407-3873-405F-A102-795B1694626C}" type="slidenum">
              <a:rPr lang="en-IN" smtClean="0"/>
              <a:t>33</a:t>
            </a:fld>
            <a:endParaRPr lang="en-IN"/>
          </a:p>
        </p:txBody>
      </p:sp>
    </p:spTree>
    <p:extLst>
      <p:ext uri="{BB962C8B-B14F-4D97-AF65-F5344CB8AC3E}">
        <p14:creationId xmlns:p14="http://schemas.microsoft.com/office/powerpoint/2010/main" val="1714222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6AF61-EF6C-F1BE-C169-B53B58E742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02975-C367-74FC-9C60-3DCBCA48BF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50B735-7077-85A6-8D90-C2E6C06454B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C31315D-DAA5-E4B4-8460-A4D481DDD4AB}"/>
              </a:ext>
            </a:extLst>
          </p:cNvPr>
          <p:cNvSpPr>
            <a:spLocks noGrp="1"/>
          </p:cNvSpPr>
          <p:nvPr>
            <p:ph type="sldNum" sz="quarter" idx="5"/>
          </p:nvPr>
        </p:nvSpPr>
        <p:spPr/>
        <p:txBody>
          <a:bodyPr/>
          <a:lstStyle/>
          <a:p>
            <a:fld id="{828A4407-3873-405F-A102-795B1694626C}" type="slidenum">
              <a:rPr lang="en-IN" smtClean="0"/>
              <a:t>34</a:t>
            </a:fld>
            <a:endParaRPr lang="en-IN"/>
          </a:p>
        </p:txBody>
      </p:sp>
    </p:spTree>
    <p:extLst>
      <p:ext uri="{BB962C8B-B14F-4D97-AF65-F5344CB8AC3E}">
        <p14:creationId xmlns:p14="http://schemas.microsoft.com/office/powerpoint/2010/main" val="41829492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DC44B-D8E2-6DF4-4808-0726BBDA0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09EB2-46A8-EE21-800C-F2F17D81E2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C9C759-042A-7D05-0EA8-59D667FC680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98EA50D-5B44-34A9-CEB0-C640B5593252}"/>
              </a:ext>
            </a:extLst>
          </p:cNvPr>
          <p:cNvSpPr>
            <a:spLocks noGrp="1"/>
          </p:cNvSpPr>
          <p:nvPr>
            <p:ph type="sldNum" sz="quarter" idx="5"/>
          </p:nvPr>
        </p:nvSpPr>
        <p:spPr/>
        <p:txBody>
          <a:bodyPr/>
          <a:lstStyle/>
          <a:p>
            <a:fld id="{828A4407-3873-405F-A102-795B1694626C}" type="slidenum">
              <a:rPr lang="en-IN" smtClean="0"/>
              <a:t>35</a:t>
            </a:fld>
            <a:endParaRPr lang="en-IN"/>
          </a:p>
        </p:txBody>
      </p:sp>
    </p:spTree>
    <p:extLst>
      <p:ext uri="{BB962C8B-B14F-4D97-AF65-F5344CB8AC3E}">
        <p14:creationId xmlns:p14="http://schemas.microsoft.com/office/powerpoint/2010/main" val="26590821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D57B0-DF7E-B30A-A2E3-5D136774CA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32F3C40-8CB5-F829-277B-13FCD0422D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4F53E0F-3F8D-D24E-EEBC-0400B76A2336}"/>
              </a:ext>
            </a:extLst>
          </p:cNvPr>
          <p:cNvSpPr>
            <a:spLocks noGrp="1"/>
          </p:cNvSpPr>
          <p:nvPr>
            <p:ph type="dt" sz="half" idx="10"/>
          </p:nvPr>
        </p:nvSpPr>
        <p:spPr/>
        <p:txBody>
          <a:bodyPr/>
          <a:lstStyle/>
          <a:p>
            <a:fld id="{378F7970-0A1F-4CDC-9700-B3E4619D70C7}" type="datetimeFigureOut">
              <a:rPr lang="en-IN" smtClean="0"/>
              <a:t>01-05-2025</a:t>
            </a:fld>
            <a:endParaRPr lang="en-IN"/>
          </a:p>
        </p:txBody>
      </p:sp>
      <p:sp>
        <p:nvSpPr>
          <p:cNvPr id="5" name="Footer Placeholder 4">
            <a:extLst>
              <a:ext uri="{FF2B5EF4-FFF2-40B4-BE49-F238E27FC236}">
                <a16:creationId xmlns:a16="http://schemas.microsoft.com/office/drawing/2014/main" id="{34AF70AB-B525-1C5A-17A6-9544E73DF7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538086-0402-DAC8-8105-90449F4D2AB8}"/>
              </a:ext>
            </a:extLst>
          </p:cNvPr>
          <p:cNvSpPr>
            <a:spLocks noGrp="1"/>
          </p:cNvSpPr>
          <p:nvPr>
            <p:ph type="sldNum" sz="quarter" idx="12"/>
          </p:nvPr>
        </p:nvSpPr>
        <p:spPr/>
        <p:txBody>
          <a:bodyPr/>
          <a:lstStyle/>
          <a:p>
            <a:fld id="{65B770EB-944C-48EA-B747-38772DEFC167}" type="slidenum">
              <a:rPr lang="en-IN" smtClean="0"/>
              <a:t>‹#›</a:t>
            </a:fld>
            <a:endParaRPr lang="en-IN"/>
          </a:p>
        </p:txBody>
      </p:sp>
    </p:spTree>
    <p:extLst>
      <p:ext uri="{BB962C8B-B14F-4D97-AF65-F5344CB8AC3E}">
        <p14:creationId xmlns:p14="http://schemas.microsoft.com/office/powerpoint/2010/main" val="2958826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3BBA-4CBF-04DE-A8B8-52206D9882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5B8CB7-CD95-F0C2-3FD3-27C5AC4425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6AFFD2-EF30-FF1E-0C9F-3096A220D6C6}"/>
              </a:ext>
            </a:extLst>
          </p:cNvPr>
          <p:cNvSpPr>
            <a:spLocks noGrp="1"/>
          </p:cNvSpPr>
          <p:nvPr>
            <p:ph type="dt" sz="half" idx="10"/>
          </p:nvPr>
        </p:nvSpPr>
        <p:spPr/>
        <p:txBody>
          <a:bodyPr/>
          <a:lstStyle/>
          <a:p>
            <a:fld id="{378F7970-0A1F-4CDC-9700-B3E4619D70C7}" type="datetimeFigureOut">
              <a:rPr lang="en-IN" smtClean="0"/>
              <a:t>01-05-2025</a:t>
            </a:fld>
            <a:endParaRPr lang="en-IN"/>
          </a:p>
        </p:txBody>
      </p:sp>
      <p:sp>
        <p:nvSpPr>
          <p:cNvPr id="5" name="Footer Placeholder 4">
            <a:extLst>
              <a:ext uri="{FF2B5EF4-FFF2-40B4-BE49-F238E27FC236}">
                <a16:creationId xmlns:a16="http://schemas.microsoft.com/office/drawing/2014/main" id="{7E0CD658-2EDF-818E-60E5-D0F904DE19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3C33E2-B82D-2181-A7B0-5CBF58C14CDE}"/>
              </a:ext>
            </a:extLst>
          </p:cNvPr>
          <p:cNvSpPr>
            <a:spLocks noGrp="1"/>
          </p:cNvSpPr>
          <p:nvPr>
            <p:ph type="sldNum" sz="quarter" idx="12"/>
          </p:nvPr>
        </p:nvSpPr>
        <p:spPr/>
        <p:txBody>
          <a:bodyPr/>
          <a:lstStyle/>
          <a:p>
            <a:fld id="{65B770EB-944C-48EA-B747-38772DEFC167}" type="slidenum">
              <a:rPr lang="en-IN" smtClean="0"/>
              <a:t>‹#›</a:t>
            </a:fld>
            <a:endParaRPr lang="en-IN"/>
          </a:p>
        </p:txBody>
      </p:sp>
    </p:spTree>
    <p:extLst>
      <p:ext uri="{BB962C8B-B14F-4D97-AF65-F5344CB8AC3E}">
        <p14:creationId xmlns:p14="http://schemas.microsoft.com/office/powerpoint/2010/main" val="537556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2709D-20B1-0967-04AC-B9573A6A3C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3587F7-0879-90B1-40C0-BD8EAF6F57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EC375F-2C75-D3AA-9479-95DAA4F13030}"/>
              </a:ext>
            </a:extLst>
          </p:cNvPr>
          <p:cNvSpPr>
            <a:spLocks noGrp="1"/>
          </p:cNvSpPr>
          <p:nvPr>
            <p:ph type="dt" sz="half" idx="10"/>
          </p:nvPr>
        </p:nvSpPr>
        <p:spPr/>
        <p:txBody>
          <a:bodyPr/>
          <a:lstStyle/>
          <a:p>
            <a:fld id="{378F7970-0A1F-4CDC-9700-B3E4619D70C7}" type="datetimeFigureOut">
              <a:rPr lang="en-IN" smtClean="0"/>
              <a:t>01-05-2025</a:t>
            </a:fld>
            <a:endParaRPr lang="en-IN"/>
          </a:p>
        </p:txBody>
      </p:sp>
      <p:sp>
        <p:nvSpPr>
          <p:cNvPr id="5" name="Footer Placeholder 4">
            <a:extLst>
              <a:ext uri="{FF2B5EF4-FFF2-40B4-BE49-F238E27FC236}">
                <a16:creationId xmlns:a16="http://schemas.microsoft.com/office/drawing/2014/main" id="{6B34C31B-40F7-2F98-BA89-72DD26AE33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EC035D-3AC8-73FE-AA72-6C50B7636E6E}"/>
              </a:ext>
            </a:extLst>
          </p:cNvPr>
          <p:cNvSpPr>
            <a:spLocks noGrp="1"/>
          </p:cNvSpPr>
          <p:nvPr>
            <p:ph type="sldNum" sz="quarter" idx="12"/>
          </p:nvPr>
        </p:nvSpPr>
        <p:spPr/>
        <p:txBody>
          <a:bodyPr/>
          <a:lstStyle/>
          <a:p>
            <a:fld id="{65B770EB-944C-48EA-B747-38772DEFC167}" type="slidenum">
              <a:rPr lang="en-IN" smtClean="0"/>
              <a:t>‹#›</a:t>
            </a:fld>
            <a:endParaRPr lang="en-IN"/>
          </a:p>
        </p:txBody>
      </p:sp>
    </p:spTree>
    <p:extLst>
      <p:ext uri="{BB962C8B-B14F-4D97-AF65-F5344CB8AC3E}">
        <p14:creationId xmlns:p14="http://schemas.microsoft.com/office/powerpoint/2010/main" val="3036613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E710E-E707-E8D7-A701-552A8C76D7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9E7037-AD2C-FA33-A59B-D423C09DA9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961AC7E-45B4-626B-6028-24B256D949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62823CD-D2AA-1693-3BBD-D2E9526055E2}"/>
              </a:ext>
            </a:extLst>
          </p:cNvPr>
          <p:cNvSpPr>
            <a:spLocks noGrp="1"/>
          </p:cNvSpPr>
          <p:nvPr>
            <p:ph type="dt" sz="half" idx="10"/>
          </p:nvPr>
        </p:nvSpPr>
        <p:spPr/>
        <p:txBody>
          <a:bodyPr/>
          <a:lstStyle/>
          <a:p>
            <a:fld id="{378F7970-0A1F-4CDC-9700-B3E4619D70C7}" type="datetimeFigureOut">
              <a:rPr lang="en-IN" smtClean="0"/>
              <a:t>01-05-2025</a:t>
            </a:fld>
            <a:endParaRPr lang="en-IN"/>
          </a:p>
        </p:txBody>
      </p:sp>
      <p:sp>
        <p:nvSpPr>
          <p:cNvPr id="6" name="Footer Placeholder 5">
            <a:extLst>
              <a:ext uri="{FF2B5EF4-FFF2-40B4-BE49-F238E27FC236}">
                <a16:creationId xmlns:a16="http://schemas.microsoft.com/office/drawing/2014/main" id="{ECB031A1-EBDD-C282-2D6C-8F4C916A03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5F941B-6772-8C97-8695-DBF8A51D421F}"/>
              </a:ext>
            </a:extLst>
          </p:cNvPr>
          <p:cNvSpPr>
            <a:spLocks noGrp="1"/>
          </p:cNvSpPr>
          <p:nvPr>
            <p:ph type="sldNum" sz="quarter" idx="12"/>
          </p:nvPr>
        </p:nvSpPr>
        <p:spPr/>
        <p:txBody>
          <a:bodyPr/>
          <a:lstStyle/>
          <a:p>
            <a:fld id="{65B770EB-944C-48EA-B747-38772DEFC167}" type="slidenum">
              <a:rPr lang="en-IN" smtClean="0"/>
              <a:t>‹#›</a:t>
            </a:fld>
            <a:endParaRPr lang="en-IN"/>
          </a:p>
        </p:txBody>
      </p:sp>
    </p:spTree>
    <p:extLst>
      <p:ext uri="{BB962C8B-B14F-4D97-AF65-F5344CB8AC3E}">
        <p14:creationId xmlns:p14="http://schemas.microsoft.com/office/powerpoint/2010/main" val="394290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F8860-A218-5FED-C189-048F24EC213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35CF2B-C6A8-654F-20DB-D9635DDC5D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5D5C96-70B4-C4FE-AD28-394E5680C2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72E691E-3885-E4E5-BF55-B1E602D77D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6C700A-28A2-F722-0372-EABE579399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969F08A-E3CC-4217-40F0-4CE699E2992C}"/>
              </a:ext>
            </a:extLst>
          </p:cNvPr>
          <p:cNvSpPr>
            <a:spLocks noGrp="1"/>
          </p:cNvSpPr>
          <p:nvPr>
            <p:ph type="dt" sz="half" idx="10"/>
          </p:nvPr>
        </p:nvSpPr>
        <p:spPr/>
        <p:txBody>
          <a:bodyPr/>
          <a:lstStyle/>
          <a:p>
            <a:fld id="{378F7970-0A1F-4CDC-9700-B3E4619D70C7}" type="datetimeFigureOut">
              <a:rPr lang="en-IN" smtClean="0"/>
              <a:t>01-05-2025</a:t>
            </a:fld>
            <a:endParaRPr lang="en-IN"/>
          </a:p>
        </p:txBody>
      </p:sp>
      <p:sp>
        <p:nvSpPr>
          <p:cNvPr id="8" name="Footer Placeholder 7">
            <a:extLst>
              <a:ext uri="{FF2B5EF4-FFF2-40B4-BE49-F238E27FC236}">
                <a16:creationId xmlns:a16="http://schemas.microsoft.com/office/drawing/2014/main" id="{CCBF669E-50AF-A45F-CDFF-F9306D9CF6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596CC5B-0555-B7B9-7D80-A797C85D78D3}"/>
              </a:ext>
            </a:extLst>
          </p:cNvPr>
          <p:cNvSpPr>
            <a:spLocks noGrp="1"/>
          </p:cNvSpPr>
          <p:nvPr>
            <p:ph type="sldNum" sz="quarter" idx="12"/>
          </p:nvPr>
        </p:nvSpPr>
        <p:spPr/>
        <p:txBody>
          <a:bodyPr/>
          <a:lstStyle/>
          <a:p>
            <a:fld id="{65B770EB-944C-48EA-B747-38772DEFC167}" type="slidenum">
              <a:rPr lang="en-IN" smtClean="0"/>
              <a:t>‹#›</a:t>
            </a:fld>
            <a:endParaRPr lang="en-IN"/>
          </a:p>
        </p:txBody>
      </p:sp>
    </p:spTree>
    <p:extLst>
      <p:ext uri="{BB962C8B-B14F-4D97-AF65-F5344CB8AC3E}">
        <p14:creationId xmlns:p14="http://schemas.microsoft.com/office/powerpoint/2010/main" val="4064800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EC6A7-DC34-09AF-AD3E-6070D101638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3DEC746-AFE8-F0B5-5833-A073C5A596E5}"/>
              </a:ext>
            </a:extLst>
          </p:cNvPr>
          <p:cNvSpPr>
            <a:spLocks noGrp="1"/>
          </p:cNvSpPr>
          <p:nvPr>
            <p:ph type="dt" sz="half" idx="10"/>
          </p:nvPr>
        </p:nvSpPr>
        <p:spPr/>
        <p:txBody>
          <a:bodyPr/>
          <a:lstStyle/>
          <a:p>
            <a:fld id="{378F7970-0A1F-4CDC-9700-B3E4619D70C7}" type="datetimeFigureOut">
              <a:rPr lang="en-IN" smtClean="0"/>
              <a:t>01-05-2025</a:t>
            </a:fld>
            <a:endParaRPr lang="en-IN"/>
          </a:p>
        </p:txBody>
      </p:sp>
      <p:sp>
        <p:nvSpPr>
          <p:cNvPr id="4" name="Footer Placeholder 3">
            <a:extLst>
              <a:ext uri="{FF2B5EF4-FFF2-40B4-BE49-F238E27FC236}">
                <a16:creationId xmlns:a16="http://schemas.microsoft.com/office/drawing/2014/main" id="{971CE2E7-FDCE-A074-A879-3BB68AB8201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0611282-597E-938A-892C-A3E17C35EADB}"/>
              </a:ext>
            </a:extLst>
          </p:cNvPr>
          <p:cNvSpPr>
            <a:spLocks noGrp="1"/>
          </p:cNvSpPr>
          <p:nvPr>
            <p:ph type="sldNum" sz="quarter" idx="12"/>
          </p:nvPr>
        </p:nvSpPr>
        <p:spPr/>
        <p:txBody>
          <a:bodyPr/>
          <a:lstStyle/>
          <a:p>
            <a:fld id="{65B770EB-944C-48EA-B747-38772DEFC167}" type="slidenum">
              <a:rPr lang="en-IN" smtClean="0"/>
              <a:t>‹#›</a:t>
            </a:fld>
            <a:endParaRPr lang="en-IN"/>
          </a:p>
        </p:txBody>
      </p:sp>
    </p:spTree>
    <p:extLst>
      <p:ext uri="{BB962C8B-B14F-4D97-AF65-F5344CB8AC3E}">
        <p14:creationId xmlns:p14="http://schemas.microsoft.com/office/powerpoint/2010/main" val="2247358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BC70FD-9C7C-AC7F-401C-C766C18C8416}"/>
              </a:ext>
            </a:extLst>
          </p:cNvPr>
          <p:cNvSpPr>
            <a:spLocks noGrp="1"/>
          </p:cNvSpPr>
          <p:nvPr>
            <p:ph type="dt" sz="half" idx="10"/>
          </p:nvPr>
        </p:nvSpPr>
        <p:spPr/>
        <p:txBody>
          <a:bodyPr/>
          <a:lstStyle/>
          <a:p>
            <a:fld id="{378F7970-0A1F-4CDC-9700-B3E4619D70C7}" type="datetimeFigureOut">
              <a:rPr lang="en-IN" smtClean="0"/>
              <a:t>01-05-2025</a:t>
            </a:fld>
            <a:endParaRPr lang="en-IN"/>
          </a:p>
        </p:txBody>
      </p:sp>
      <p:sp>
        <p:nvSpPr>
          <p:cNvPr id="3" name="Footer Placeholder 2">
            <a:extLst>
              <a:ext uri="{FF2B5EF4-FFF2-40B4-BE49-F238E27FC236}">
                <a16:creationId xmlns:a16="http://schemas.microsoft.com/office/drawing/2014/main" id="{5B40BD1A-0E3D-7113-F5BB-DC48D751910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48CBF69-55D2-C6CC-4BDC-E7C87E30AEE4}"/>
              </a:ext>
            </a:extLst>
          </p:cNvPr>
          <p:cNvSpPr>
            <a:spLocks noGrp="1"/>
          </p:cNvSpPr>
          <p:nvPr>
            <p:ph type="sldNum" sz="quarter" idx="12"/>
          </p:nvPr>
        </p:nvSpPr>
        <p:spPr/>
        <p:txBody>
          <a:bodyPr/>
          <a:lstStyle/>
          <a:p>
            <a:fld id="{65B770EB-944C-48EA-B747-38772DEFC167}" type="slidenum">
              <a:rPr lang="en-IN" smtClean="0"/>
              <a:t>‹#›</a:t>
            </a:fld>
            <a:endParaRPr lang="en-IN"/>
          </a:p>
        </p:txBody>
      </p:sp>
    </p:spTree>
    <p:extLst>
      <p:ext uri="{BB962C8B-B14F-4D97-AF65-F5344CB8AC3E}">
        <p14:creationId xmlns:p14="http://schemas.microsoft.com/office/powerpoint/2010/main" val="3031441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C3254-3463-2ED9-D1D3-D13A716A39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17EE47B-1855-56AA-03BD-922B128DFF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0A7B7DB-6680-E0CA-EA4F-7929EED1CD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BDE3B0-0784-3152-A7CB-BA5CD5B49BC3}"/>
              </a:ext>
            </a:extLst>
          </p:cNvPr>
          <p:cNvSpPr>
            <a:spLocks noGrp="1"/>
          </p:cNvSpPr>
          <p:nvPr>
            <p:ph type="dt" sz="half" idx="10"/>
          </p:nvPr>
        </p:nvSpPr>
        <p:spPr/>
        <p:txBody>
          <a:bodyPr/>
          <a:lstStyle/>
          <a:p>
            <a:fld id="{378F7970-0A1F-4CDC-9700-B3E4619D70C7}" type="datetimeFigureOut">
              <a:rPr lang="en-IN" smtClean="0"/>
              <a:t>01-05-2025</a:t>
            </a:fld>
            <a:endParaRPr lang="en-IN"/>
          </a:p>
        </p:txBody>
      </p:sp>
      <p:sp>
        <p:nvSpPr>
          <p:cNvPr id="6" name="Footer Placeholder 5">
            <a:extLst>
              <a:ext uri="{FF2B5EF4-FFF2-40B4-BE49-F238E27FC236}">
                <a16:creationId xmlns:a16="http://schemas.microsoft.com/office/drawing/2014/main" id="{D293C4E4-D4B8-B91B-2911-C968CDC32C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554B47-E7DE-615F-B370-C137A1FD3DE5}"/>
              </a:ext>
            </a:extLst>
          </p:cNvPr>
          <p:cNvSpPr>
            <a:spLocks noGrp="1"/>
          </p:cNvSpPr>
          <p:nvPr>
            <p:ph type="sldNum" sz="quarter" idx="12"/>
          </p:nvPr>
        </p:nvSpPr>
        <p:spPr/>
        <p:txBody>
          <a:bodyPr/>
          <a:lstStyle/>
          <a:p>
            <a:fld id="{65B770EB-944C-48EA-B747-38772DEFC167}" type="slidenum">
              <a:rPr lang="en-IN" smtClean="0"/>
              <a:t>‹#›</a:t>
            </a:fld>
            <a:endParaRPr lang="en-IN"/>
          </a:p>
        </p:txBody>
      </p:sp>
    </p:spTree>
    <p:extLst>
      <p:ext uri="{BB962C8B-B14F-4D97-AF65-F5344CB8AC3E}">
        <p14:creationId xmlns:p14="http://schemas.microsoft.com/office/powerpoint/2010/main" val="2964796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8227A-4972-F282-498B-A57A719FDB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2062166-97C8-E206-D39F-349500887C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0B0FF9-BF8E-8D8B-252B-63F66A38A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D4C590-9648-27D9-0194-81A9D29D6254}"/>
              </a:ext>
            </a:extLst>
          </p:cNvPr>
          <p:cNvSpPr>
            <a:spLocks noGrp="1"/>
          </p:cNvSpPr>
          <p:nvPr>
            <p:ph type="dt" sz="half" idx="10"/>
          </p:nvPr>
        </p:nvSpPr>
        <p:spPr/>
        <p:txBody>
          <a:bodyPr/>
          <a:lstStyle/>
          <a:p>
            <a:fld id="{378F7970-0A1F-4CDC-9700-B3E4619D70C7}" type="datetimeFigureOut">
              <a:rPr lang="en-IN" smtClean="0"/>
              <a:t>01-05-2025</a:t>
            </a:fld>
            <a:endParaRPr lang="en-IN"/>
          </a:p>
        </p:txBody>
      </p:sp>
      <p:sp>
        <p:nvSpPr>
          <p:cNvPr id="6" name="Footer Placeholder 5">
            <a:extLst>
              <a:ext uri="{FF2B5EF4-FFF2-40B4-BE49-F238E27FC236}">
                <a16:creationId xmlns:a16="http://schemas.microsoft.com/office/drawing/2014/main" id="{4A95B278-8723-8A14-2BCE-711430E076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DE7D79-CA68-FB51-6336-C17EDD4899B8}"/>
              </a:ext>
            </a:extLst>
          </p:cNvPr>
          <p:cNvSpPr>
            <a:spLocks noGrp="1"/>
          </p:cNvSpPr>
          <p:nvPr>
            <p:ph type="sldNum" sz="quarter" idx="12"/>
          </p:nvPr>
        </p:nvSpPr>
        <p:spPr/>
        <p:txBody>
          <a:bodyPr/>
          <a:lstStyle/>
          <a:p>
            <a:fld id="{65B770EB-944C-48EA-B747-38772DEFC167}" type="slidenum">
              <a:rPr lang="en-IN" smtClean="0"/>
              <a:t>‹#›</a:t>
            </a:fld>
            <a:endParaRPr lang="en-IN"/>
          </a:p>
        </p:txBody>
      </p:sp>
    </p:spTree>
    <p:extLst>
      <p:ext uri="{BB962C8B-B14F-4D97-AF65-F5344CB8AC3E}">
        <p14:creationId xmlns:p14="http://schemas.microsoft.com/office/powerpoint/2010/main" val="201173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2E55A-8A8B-7EDE-D555-E4644421219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A9EAA1-F8EE-BD99-24DB-167848140C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3841EA-A8E4-9C3B-4117-5811570574A0}"/>
              </a:ext>
            </a:extLst>
          </p:cNvPr>
          <p:cNvSpPr>
            <a:spLocks noGrp="1"/>
          </p:cNvSpPr>
          <p:nvPr>
            <p:ph type="dt" sz="half" idx="10"/>
          </p:nvPr>
        </p:nvSpPr>
        <p:spPr/>
        <p:txBody>
          <a:bodyPr/>
          <a:lstStyle/>
          <a:p>
            <a:fld id="{378F7970-0A1F-4CDC-9700-B3E4619D70C7}" type="datetimeFigureOut">
              <a:rPr lang="en-IN" smtClean="0"/>
              <a:t>01-05-2025</a:t>
            </a:fld>
            <a:endParaRPr lang="en-IN"/>
          </a:p>
        </p:txBody>
      </p:sp>
      <p:sp>
        <p:nvSpPr>
          <p:cNvPr id="5" name="Footer Placeholder 4">
            <a:extLst>
              <a:ext uri="{FF2B5EF4-FFF2-40B4-BE49-F238E27FC236}">
                <a16:creationId xmlns:a16="http://schemas.microsoft.com/office/drawing/2014/main" id="{ED69F9FA-255B-8695-1396-B17FE401C9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7BDE2F-5949-9BD7-00F1-1D522D378D05}"/>
              </a:ext>
            </a:extLst>
          </p:cNvPr>
          <p:cNvSpPr>
            <a:spLocks noGrp="1"/>
          </p:cNvSpPr>
          <p:nvPr>
            <p:ph type="sldNum" sz="quarter" idx="12"/>
          </p:nvPr>
        </p:nvSpPr>
        <p:spPr/>
        <p:txBody>
          <a:bodyPr/>
          <a:lstStyle/>
          <a:p>
            <a:fld id="{65B770EB-944C-48EA-B747-38772DEFC167}" type="slidenum">
              <a:rPr lang="en-IN" smtClean="0"/>
              <a:t>‹#›</a:t>
            </a:fld>
            <a:endParaRPr lang="en-IN"/>
          </a:p>
        </p:txBody>
      </p:sp>
    </p:spTree>
    <p:extLst>
      <p:ext uri="{BB962C8B-B14F-4D97-AF65-F5344CB8AC3E}">
        <p14:creationId xmlns:p14="http://schemas.microsoft.com/office/powerpoint/2010/main" val="399938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B0E35A-D059-8E22-3C9A-6B6DED409E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83F544-9ACF-A819-79BF-5589ECE001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1D971B-1A6D-70F2-F7F2-B96FE7DC5504}"/>
              </a:ext>
            </a:extLst>
          </p:cNvPr>
          <p:cNvSpPr>
            <a:spLocks noGrp="1"/>
          </p:cNvSpPr>
          <p:nvPr>
            <p:ph type="dt" sz="half" idx="10"/>
          </p:nvPr>
        </p:nvSpPr>
        <p:spPr/>
        <p:txBody>
          <a:bodyPr/>
          <a:lstStyle/>
          <a:p>
            <a:fld id="{378F7970-0A1F-4CDC-9700-B3E4619D70C7}" type="datetimeFigureOut">
              <a:rPr lang="en-IN" smtClean="0"/>
              <a:t>01-05-2025</a:t>
            </a:fld>
            <a:endParaRPr lang="en-IN"/>
          </a:p>
        </p:txBody>
      </p:sp>
      <p:sp>
        <p:nvSpPr>
          <p:cNvPr id="5" name="Footer Placeholder 4">
            <a:extLst>
              <a:ext uri="{FF2B5EF4-FFF2-40B4-BE49-F238E27FC236}">
                <a16:creationId xmlns:a16="http://schemas.microsoft.com/office/drawing/2014/main" id="{C8E34DFD-4D4E-CE07-5F5E-6176CE68FD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0F3870-306D-11F6-B891-BC4132839F51}"/>
              </a:ext>
            </a:extLst>
          </p:cNvPr>
          <p:cNvSpPr>
            <a:spLocks noGrp="1"/>
          </p:cNvSpPr>
          <p:nvPr>
            <p:ph type="sldNum" sz="quarter" idx="12"/>
          </p:nvPr>
        </p:nvSpPr>
        <p:spPr/>
        <p:txBody>
          <a:bodyPr/>
          <a:lstStyle/>
          <a:p>
            <a:fld id="{65B770EB-944C-48EA-B747-38772DEFC167}" type="slidenum">
              <a:rPr lang="en-IN" smtClean="0"/>
              <a:t>‹#›</a:t>
            </a:fld>
            <a:endParaRPr lang="en-IN"/>
          </a:p>
        </p:txBody>
      </p:sp>
    </p:spTree>
    <p:extLst>
      <p:ext uri="{BB962C8B-B14F-4D97-AF65-F5344CB8AC3E}">
        <p14:creationId xmlns:p14="http://schemas.microsoft.com/office/powerpoint/2010/main" val="2774982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5042AC-0301-CAE1-3EC4-0A78E0BD29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50A075-C445-837D-49A1-E2D15A42D6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BDB842-CF1E-A3D1-29CE-87C069769F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8F7970-0A1F-4CDC-9700-B3E4619D70C7}" type="datetimeFigureOut">
              <a:rPr lang="en-IN" smtClean="0"/>
              <a:t>01-05-2025</a:t>
            </a:fld>
            <a:endParaRPr lang="en-IN"/>
          </a:p>
        </p:txBody>
      </p:sp>
      <p:sp>
        <p:nvSpPr>
          <p:cNvPr id="5" name="Footer Placeholder 4">
            <a:extLst>
              <a:ext uri="{FF2B5EF4-FFF2-40B4-BE49-F238E27FC236}">
                <a16:creationId xmlns:a16="http://schemas.microsoft.com/office/drawing/2014/main" id="{F866582C-7133-6056-F40B-646A11FE26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450F810-EA25-F01E-6D8E-ED46986C9B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B770EB-944C-48EA-B747-38772DEFC167}" type="slidenum">
              <a:rPr lang="en-IN" smtClean="0"/>
              <a:t>‹#›</a:t>
            </a:fld>
            <a:endParaRPr lang="en-IN"/>
          </a:p>
        </p:txBody>
      </p:sp>
    </p:spTree>
    <p:extLst>
      <p:ext uri="{BB962C8B-B14F-4D97-AF65-F5344CB8AC3E}">
        <p14:creationId xmlns:p14="http://schemas.microsoft.com/office/powerpoint/2010/main" val="15670662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7447D-2042-67FE-F309-CD3C9E0A8B7D}"/>
              </a:ext>
            </a:extLst>
          </p:cNvPr>
          <p:cNvSpPr>
            <a:spLocks noGrp="1"/>
          </p:cNvSpPr>
          <p:nvPr>
            <p:ph type="ctrTitle"/>
          </p:nvPr>
        </p:nvSpPr>
        <p:spPr/>
        <p:txBody>
          <a:bodyPr/>
          <a:lstStyle/>
          <a:p>
            <a:r>
              <a:rPr lang="en-IN" dirty="0"/>
              <a:t>Dimensional Model - Retail</a:t>
            </a:r>
          </a:p>
        </p:txBody>
      </p:sp>
    </p:spTree>
    <p:extLst>
      <p:ext uri="{BB962C8B-B14F-4D97-AF65-F5344CB8AC3E}">
        <p14:creationId xmlns:p14="http://schemas.microsoft.com/office/powerpoint/2010/main" val="292371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C7F51-1103-3825-1EF3-63EE48F36F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DDD9D6-2728-56E8-1AFF-2E93A4BDF310}"/>
              </a:ext>
            </a:extLst>
          </p:cNvPr>
          <p:cNvSpPr>
            <a:spLocks noGrp="1"/>
          </p:cNvSpPr>
          <p:nvPr>
            <p:ph type="title"/>
          </p:nvPr>
        </p:nvSpPr>
        <p:spPr>
          <a:xfrm>
            <a:off x="838200" y="365126"/>
            <a:ext cx="10502348" cy="668544"/>
          </a:xfrm>
        </p:spPr>
        <p:txBody>
          <a:bodyPr>
            <a:normAutofit/>
          </a:bodyPr>
          <a:lstStyle/>
          <a:p>
            <a:pPr algn="ctr"/>
            <a:r>
              <a:rPr lang="en-IN" sz="3200" b="0" i="0" u="none" strike="noStrike" baseline="0" dirty="0">
                <a:latin typeface="StoneSansStd-Medium"/>
              </a:rPr>
              <a:t>Dimensional Modelling - Retail Sales</a:t>
            </a:r>
            <a:endParaRPr lang="en-IN" sz="3200" dirty="0"/>
          </a:p>
        </p:txBody>
      </p:sp>
      <p:sp>
        <p:nvSpPr>
          <p:cNvPr id="3" name="Content Placeholder 2">
            <a:extLst>
              <a:ext uri="{FF2B5EF4-FFF2-40B4-BE49-F238E27FC236}">
                <a16:creationId xmlns:a16="http://schemas.microsoft.com/office/drawing/2014/main" id="{30425243-F1E1-B637-1F39-BDBDBD1E3232}"/>
              </a:ext>
            </a:extLst>
          </p:cNvPr>
          <p:cNvSpPr>
            <a:spLocks noGrp="1"/>
          </p:cNvSpPr>
          <p:nvPr>
            <p:ph idx="1"/>
          </p:nvPr>
        </p:nvSpPr>
        <p:spPr>
          <a:xfrm>
            <a:off x="188843" y="1338606"/>
            <a:ext cx="12003157" cy="5300733"/>
          </a:xfrm>
        </p:spPr>
        <p:txBody>
          <a:bodyPr>
            <a:noAutofit/>
          </a:bodyPr>
          <a:lstStyle/>
          <a:p>
            <a:pPr algn="l"/>
            <a:r>
              <a:rPr lang="en-GB" sz="1800" b="0" i="0" u="none" strike="noStrike" baseline="0" dirty="0">
                <a:latin typeface="BerkeleyStd-Medium"/>
              </a:rPr>
              <a:t>Four-step process for designing dimensional models</a:t>
            </a:r>
          </a:p>
          <a:p>
            <a:pPr algn="l"/>
            <a:r>
              <a:rPr lang="en-IN" sz="1800" b="0" i="0" u="none" strike="noStrike" baseline="0" dirty="0">
                <a:latin typeface="BerkeleyStd-Medium"/>
              </a:rPr>
              <a:t>Fact table granularity</a:t>
            </a:r>
          </a:p>
          <a:p>
            <a:pPr algn="l"/>
            <a:r>
              <a:rPr lang="en-IN" sz="1800" b="0" i="0" u="none" strike="noStrike" baseline="0" dirty="0">
                <a:latin typeface="BerkeleyStd-Medium"/>
              </a:rPr>
              <a:t>Transaction fact tables</a:t>
            </a:r>
          </a:p>
          <a:p>
            <a:pPr algn="l"/>
            <a:r>
              <a:rPr lang="en-GB" sz="1800" b="0" i="0" u="none" strike="noStrike" baseline="0" dirty="0">
                <a:latin typeface="BerkeleyStd-Medium"/>
              </a:rPr>
              <a:t>Additive, non-additive, and derived facts</a:t>
            </a:r>
          </a:p>
          <a:p>
            <a:pPr algn="l"/>
            <a:r>
              <a:rPr lang="en-GB" sz="1800" b="0" i="0" u="none" strike="noStrike" baseline="0" dirty="0">
                <a:latin typeface="BerkeleyStd-Medium"/>
              </a:rPr>
              <a:t>Dimension attributes, including indicators, numeric descriptors, and multiple </a:t>
            </a:r>
            <a:r>
              <a:rPr lang="en-IN" sz="1800" b="0" i="0" u="none" strike="noStrike" baseline="0" dirty="0">
                <a:latin typeface="BerkeleyStd-Medium"/>
              </a:rPr>
              <a:t>hierarchies</a:t>
            </a:r>
          </a:p>
          <a:p>
            <a:pPr algn="l"/>
            <a:r>
              <a:rPr lang="en-GB" sz="1800" b="0" i="0" u="none" strike="noStrike" baseline="0" dirty="0">
                <a:latin typeface="BerkeleyStd-Medium"/>
              </a:rPr>
              <a:t>Calendar date dimensions, plus time-of-day</a:t>
            </a:r>
          </a:p>
          <a:p>
            <a:pPr algn="l"/>
            <a:r>
              <a:rPr lang="en-IN" sz="1800" b="0" i="0" u="none" strike="noStrike" baseline="0" dirty="0">
                <a:latin typeface="BerkeleyStd-Medium"/>
              </a:rPr>
              <a:t>Causal dimensions, such as promotion</a:t>
            </a:r>
          </a:p>
          <a:p>
            <a:pPr algn="l"/>
            <a:r>
              <a:rPr lang="en-GB" sz="1800" b="0" i="0" u="none" strike="noStrike" baseline="0" dirty="0">
                <a:latin typeface="BerkeleyStd-Medium"/>
              </a:rPr>
              <a:t>Degenerate dimensions, such as the transaction receipt number</a:t>
            </a:r>
          </a:p>
          <a:p>
            <a:pPr algn="l"/>
            <a:r>
              <a:rPr lang="it-IT" sz="1800" b="0" i="0" u="none" strike="noStrike" baseline="0" dirty="0">
                <a:latin typeface="BerkeleyStd-Medium"/>
              </a:rPr>
              <a:t>Nulls in a dimensional model</a:t>
            </a:r>
          </a:p>
          <a:p>
            <a:pPr algn="l"/>
            <a:r>
              <a:rPr lang="en-IN" sz="1800" b="0" i="0" u="none" strike="noStrike" baseline="0" dirty="0">
                <a:latin typeface="BerkeleyStd-Medium"/>
              </a:rPr>
              <a:t>Extensibility of dimension models</a:t>
            </a:r>
          </a:p>
          <a:p>
            <a:pPr algn="l"/>
            <a:r>
              <a:rPr lang="en-IN" sz="1800" b="0" i="0" u="none" strike="noStrike" baseline="0" dirty="0" err="1">
                <a:latin typeface="BerkeleyStd-Medium"/>
              </a:rPr>
              <a:t>Factless</a:t>
            </a:r>
            <a:r>
              <a:rPr lang="en-IN" sz="1800" b="0" i="0" u="none" strike="noStrike" baseline="0" dirty="0">
                <a:latin typeface="BerkeleyStd-Medium"/>
              </a:rPr>
              <a:t> fact tables</a:t>
            </a:r>
          </a:p>
          <a:p>
            <a:pPr algn="l"/>
            <a:r>
              <a:rPr lang="en-GB" sz="1800" b="0" i="0" u="none" strike="noStrike" baseline="0" dirty="0">
                <a:latin typeface="BerkeleyStd-Medium"/>
              </a:rPr>
              <a:t>Surrogate, natural, and durable keys</a:t>
            </a:r>
          </a:p>
          <a:p>
            <a:pPr algn="l"/>
            <a:r>
              <a:rPr lang="en-IN" sz="1800" b="0" i="0" u="none" strike="noStrike" baseline="0" dirty="0" err="1">
                <a:latin typeface="BerkeleyStd-Medium"/>
              </a:rPr>
              <a:t>Snowflaked</a:t>
            </a:r>
            <a:r>
              <a:rPr lang="en-IN" sz="1800" b="0" i="0" u="none" strike="noStrike" baseline="0" dirty="0">
                <a:latin typeface="BerkeleyStd-Medium"/>
              </a:rPr>
              <a:t> dimension attributes</a:t>
            </a:r>
          </a:p>
          <a:p>
            <a:pPr algn="l"/>
            <a:r>
              <a:rPr lang="en-GB" sz="1800" b="0" i="0" u="none" strike="noStrike" baseline="0" dirty="0">
                <a:latin typeface="BerkeleyStd-Medium"/>
              </a:rPr>
              <a:t>Centipede fact tables with “too many dimensions”</a:t>
            </a:r>
            <a:endParaRPr lang="en-GB" sz="2400" dirty="0">
              <a:latin typeface="BerkeleyStd-Medium"/>
            </a:endParaRPr>
          </a:p>
        </p:txBody>
      </p:sp>
    </p:spTree>
    <p:extLst>
      <p:ext uri="{BB962C8B-B14F-4D97-AF65-F5344CB8AC3E}">
        <p14:creationId xmlns:p14="http://schemas.microsoft.com/office/powerpoint/2010/main" val="251852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87AE3-C89C-A772-275D-DFD2A9DD0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E2030B-5198-E1AA-633C-B2695E20858D}"/>
              </a:ext>
            </a:extLst>
          </p:cNvPr>
          <p:cNvSpPr>
            <a:spLocks noGrp="1"/>
          </p:cNvSpPr>
          <p:nvPr>
            <p:ph type="title"/>
          </p:nvPr>
        </p:nvSpPr>
        <p:spPr>
          <a:xfrm>
            <a:off x="651013" y="325369"/>
            <a:ext cx="10889974" cy="668544"/>
          </a:xfrm>
        </p:spPr>
        <p:txBody>
          <a:bodyPr vert="horz" lIns="91440" tIns="45720" rIns="91440" bIns="45720" rtlCol="0" anchor="ctr">
            <a:normAutofit/>
          </a:bodyPr>
          <a:lstStyle/>
          <a:p>
            <a:pPr algn="ctr"/>
            <a:r>
              <a:rPr lang="en-IN" sz="3200" dirty="0">
                <a:latin typeface="StoneSansStd-Medium"/>
              </a:rPr>
              <a:t>Dimensional Design Process - </a:t>
            </a:r>
            <a:r>
              <a:rPr lang="en-GB" sz="3200" dirty="0">
                <a:latin typeface="BerkeleyStd-Medium"/>
              </a:rPr>
              <a:t>Select the Business Process</a:t>
            </a:r>
            <a:endParaRPr lang="en-IN" sz="3200" dirty="0">
              <a:latin typeface="StoneSansStd-Medium"/>
            </a:endParaRPr>
          </a:p>
        </p:txBody>
      </p:sp>
      <p:sp>
        <p:nvSpPr>
          <p:cNvPr id="3" name="Content Placeholder 2">
            <a:extLst>
              <a:ext uri="{FF2B5EF4-FFF2-40B4-BE49-F238E27FC236}">
                <a16:creationId xmlns:a16="http://schemas.microsoft.com/office/drawing/2014/main" id="{19BDD2B0-FF4F-8F91-8208-E5A2E4523E8E}"/>
              </a:ext>
            </a:extLst>
          </p:cNvPr>
          <p:cNvSpPr>
            <a:spLocks noGrp="1"/>
          </p:cNvSpPr>
          <p:nvPr>
            <p:ph idx="1"/>
          </p:nvPr>
        </p:nvSpPr>
        <p:spPr>
          <a:xfrm>
            <a:off x="188843" y="1338606"/>
            <a:ext cx="12003157" cy="5300733"/>
          </a:xfrm>
        </p:spPr>
        <p:txBody>
          <a:bodyPr>
            <a:noAutofit/>
          </a:bodyPr>
          <a:lstStyle/>
          <a:p>
            <a:pPr marL="0" indent="0" algn="l">
              <a:buNone/>
            </a:pPr>
            <a:r>
              <a:rPr lang="en-GB" sz="2400" dirty="0">
                <a:latin typeface="BerkeleyStd-Medium"/>
              </a:rPr>
              <a:t>Step 1: Select the Business Process</a:t>
            </a:r>
          </a:p>
          <a:p>
            <a:pPr marL="0" indent="0" algn="l">
              <a:buNone/>
            </a:pPr>
            <a:r>
              <a:rPr lang="en-GB" sz="2400" dirty="0">
                <a:latin typeface="BerkeleyStd-Medium"/>
              </a:rPr>
              <a:t>A business process is a low-level activity performed by an organization, such as taking orders, invoicing, receiving payments, handling service calls, registering students, performing a medical procedure, or processing claims.</a:t>
            </a:r>
          </a:p>
          <a:p>
            <a:pPr marL="0" indent="0" algn="l">
              <a:buNone/>
            </a:pPr>
            <a:endParaRPr lang="en-GB" sz="2400" dirty="0">
              <a:latin typeface="BerkeleyStd-Medium"/>
            </a:endParaRPr>
          </a:p>
          <a:p>
            <a:r>
              <a:rPr lang="en-GB" sz="2400" dirty="0">
                <a:latin typeface="BerkeleyStd-Medium"/>
              </a:rPr>
              <a:t>Business processes are expressed as action verds as they presents activities performed by business.</a:t>
            </a:r>
          </a:p>
          <a:p>
            <a:r>
              <a:rPr lang="en-GB" sz="2400" dirty="0">
                <a:latin typeface="BerkeleyStd-Medium"/>
              </a:rPr>
              <a:t>It is supported by Operational system like Billing or Purchasing Systems.</a:t>
            </a:r>
          </a:p>
          <a:p>
            <a:r>
              <a:rPr lang="en-GB" sz="2400" dirty="0">
                <a:latin typeface="BerkeleyStd-Medium"/>
              </a:rPr>
              <a:t>Business Process generates or captures key performance metrics either as a direct result from business or derived from events.</a:t>
            </a:r>
          </a:p>
          <a:p>
            <a:r>
              <a:rPr lang="en-GB" sz="2400" dirty="0">
                <a:latin typeface="BerkeleyStd-Medium"/>
              </a:rPr>
              <a:t>Business processes are triggered by an input and result in output metrics. </a:t>
            </a:r>
            <a:endParaRPr lang="en-GB" sz="1800" dirty="0">
              <a:latin typeface="BerkeleyStd-Medium"/>
            </a:endParaRPr>
          </a:p>
        </p:txBody>
      </p:sp>
    </p:spTree>
    <p:extLst>
      <p:ext uri="{BB962C8B-B14F-4D97-AF65-F5344CB8AC3E}">
        <p14:creationId xmlns:p14="http://schemas.microsoft.com/office/powerpoint/2010/main" val="1343079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64510-6D39-9862-091B-7950822594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9B84E-2A1D-82F0-029D-EFB3A946218F}"/>
              </a:ext>
            </a:extLst>
          </p:cNvPr>
          <p:cNvSpPr>
            <a:spLocks noGrp="1"/>
          </p:cNvSpPr>
          <p:nvPr>
            <p:ph type="title"/>
          </p:nvPr>
        </p:nvSpPr>
        <p:spPr>
          <a:xfrm>
            <a:off x="838200" y="365126"/>
            <a:ext cx="10502348" cy="668544"/>
          </a:xfrm>
        </p:spPr>
        <p:txBody>
          <a:bodyPr vert="horz" lIns="91440" tIns="45720" rIns="91440" bIns="45720" rtlCol="0" anchor="ctr">
            <a:normAutofit/>
          </a:bodyPr>
          <a:lstStyle/>
          <a:p>
            <a:pPr algn="ctr"/>
            <a:r>
              <a:rPr lang="en-IN" sz="3200" dirty="0">
                <a:latin typeface="StoneSansStd-Medium"/>
              </a:rPr>
              <a:t>Dimensional Design Process - </a:t>
            </a:r>
            <a:r>
              <a:rPr lang="en-GB" sz="3200" dirty="0">
                <a:latin typeface="BerkeleyStd-Medium"/>
              </a:rPr>
              <a:t>Select the Business Process</a:t>
            </a:r>
            <a:endParaRPr lang="en-IN" sz="3200" dirty="0">
              <a:latin typeface="StoneSansStd-Medium"/>
            </a:endParaRPr>
          </a:p>
        </p:txBody>
      </p:sp>
      <p:sp>
        <p:nvSpPr>
          <p:cNvPr id="3" name="Content Placeholder 2">
            <a:extLst>
              <a:ext uri="{FF2B5EF4-FFF2-40B4-BE49-F238E27FC236}">
                <a16:creationId xmlns:a16="http://schemas.microsoft.com/office/drawing/2014/main" id="{9F69572C-D144-B0DA-37D2-52FA10A13F8B}"/>
              </a:ext>
            </a:extLst>
          </p:cNvPr>
          <p:cNvSpPr>
            <a:spLocks noGrp="1"/>
          </p:cNvSpPr>
          <p:nvPr>
            <p:ph idx="1"/>
          </p:nvPr>
        </p:nvSpPr>
        <p:spPr>
          <a:xfrm>
            <a:off x="188843" y="1338606"/>
            <a:ext cx="12003157" cy="5300733"/>
          </a:xfrm>
        </p:spPr>
        <p:txBody>
          <a:bodyPr>
            <a:noAutofit/>
          </a:bodyPr>
          <a:lstStyle/>
          <a:p>
            <a:pPr marL="0" indent="0" algn="l">
              <a:buNone/>
            </a:pPr>
            <a:r>
              <a:rPr lang="en-GB" sz="2400" dirty="0">
                <a:latin typeface="BerkeleyStd-Medium"/>
              </a:rPr>
              <a:t>What happens when </a:t>
            </a:r>
            <a:r>
              <a:rPr lang="en-IN" sz="2400" dirty="0">
                <a:latin typeface="BerkeleyStd-Medium"/>
              </a:rPr>
              <a:t>you design dimensional model departmentally bound </a:t>
            </a:r>
            <a:r>
              <a:rPr lang="en-GB" sz="2400" dirty="0">
                <a:latin typeface="BerkeleyStd-Medium"/>
              </a:rPr>
              <a:t>dimensional models, you inevitably duplicate data with different labels and data </a:t>
            </a:r>
            <a:r>
              <a:rPr lang="en-IN" sz="2400" dirty="0">
                <a:latin typeface="BerkeleyStd-Medium"/>
              </a:rPr>
              <a:t>values.</a:t>
            </a:r>
          </a:p>
          <a:p>
            <a:pPr marL="0" indent="0" algn="l">
              <a:buNone/>
            </a:pPr>
            <a:endParaRPr lang="en-IN" sz="2400" dirty="0">
              <a:latin typeface="BerkeleyStd-Medium"/>
            </a:endParaRPr>
          </a:p>
          <a:p>
            <a:pPr marL="0" indent="0" algn="l">
              <a:buNone/>
            </a:pPr>
            <a:r>
              <a:rPr lang="en-GB" sz="2400" dirty="0">
                <a:latin typeface="BerkeleyStd-Medium"/>
              </a:rPr>
              <a:t>Need to decompose the business initiative into the underlying </a:t>
            </a:r>
            <a:r>
              <a:rPr lang="en-IN" sz="2400" dirty="0">
                <a:latin typeface="BerkeleyStd-Medium"/>
              </a:rPr>
              <a:t>processes – digging deeper to understand the data and operational systems that supports analytical system.  </a:t>
            </a:r>
          </a:p>
          <a:p>
            <a:pPr marL="0" indent="0" algn="l">
              <a:buNone/>
            </a:pPr>
            <a:endParaRPr lang="en-IN" sz="2400" dirty="0">
              <a:latin typeface="BerkeleyStd-Medium"/>
            </a:endParaRPr>
          </a:p>
          <a:p>
            <a:pPr marL="0" indent="0" algn="l">
              <a:buNone/>
            </a:pPr>
            <a:endParaRPr lang="en-GB" sz="2400" dirty="0">
              <a:latin typeface="BerkeleyStd-Medium"/>
            </a:endParaRPr>
          </a:p>
        </p:txBody>
      </p:sp>
    </p:spTree>
    <p:extLst>
      <p:ext uri="{BB962C8B-B14F-4D97-AF65-F5344CB8AC3E}">
        <p14:creationId xmlns:p14="http://schemas.microsoft.com/office/powerpoint/2010/main" val="2772931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4C8D3-DA87-C9D9-8FC3-3A517BCAD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74866-1BBD-BBCA-54D8-6ABC6AD6499F}"/>
              </a:ext>
            </a:extLst>
          </p:cNvPr>
          <p:cNvSpPr>
            <a:spLocks noGrp="1"/>
          </p:cNvSpPr>
          <p:nvPr>
            <p:ph type="title"/>
          </p:nvPr>
        </p:nvSpPr>
        <p:spPr>
          <a:xfrm>
            <a:off x="838200" y="365126"/>
            <a:ext cx="10502348" cy="668544"/>
          </a:xfrm>
        </p:spPr>
        <p:txBody>
          <a:bodyPr vert="horz" lIns="91440" tIns="45720" rIns="91440" bIns="45720" rtlCol="0" anchor="ctr">
            <a:normAutofit/>
          </a:bodyPr>
          <a:lstStyle/>
          <a:p>
            <a:pPr algn="ctr"/>
            <a:r>
              <a:rPr lang="en-IN" sz="3200" dirty="0">
                <a:latin typeface="StoneSansStd-Medium"/>
              </a:rPr>
              <a:t>Dimensional Design Process – </a:t>
            </a:r>
            <a:r>
              <a:rPr lang="en-GB" sz="3200" dirty="0">
                <a:latin typeface="BerkeleyStd-Medium"/>
              </a:rPr>
              <a:t>Declare the Grain</a:t>
            </a:r>
            <a:endParaRPr lang="en-IN" sz="3200" dirty="0">
              <a:latin typeface="StoneSansStd-Medium"/>
            </a:endParaRPr>
          </a:p>
        </p:txBody>
      </p:sp>
      <p:sp>
        <p:nvSpPr>
          <p:cNvPr id="3" name="Content Placeholder 2">
            <a:extLst>
              <a:ext uri="{FF2B5EF4-FFF2-40B4-BE49-F238E27FC236}">
                <a16:creationId xmlns:a16="http://schemas.microsoft.com/office/drawing/2014/main" id="{F0DBABAD-3BAD-A011-0554-D9B382B5FF1D}"/>
              </a:ext>
            </a:extLst>
          </p:cNvPr>
          <p:cNvSpPr>
            <a:spLocks noGrp="1"/>
          </p:cNvSpPr>
          <p:nvPr>
            <p:ph idx="1"/>
          </p:nvPr>
        </p:nvSpPr>
        <p:spPr>
          <a:xfrm>
            <a:off x="188843" y="1338606"/>
            <a:ext cx="11857383" cy="5300733"/>
          </a:xfrm>
        </p:spPr>
        <p:txBody>
          <a:bodyPr>
            <a:noAutofit/>
          </a:bodyPr>
          <a:lstStyle/>
          <a:p>
            <a:pPr marL="0" indent="0" algn="l">
              <a:buNone/>
            </a:pPr>
            <a:r>
              <a:rPr lang="en-GB" sz="2400" dirty="0">
                <a:latin typeface="BerkeleyStd-Medium"/>
              </a:rPr>
              <a:t>Step 2: Declare the Grain</a:t>
            </a:r>
          </a:p>
          <a:p>
            <a:pPr marL="0" indent="0" algn="l">
              <a:buNone/>
            </a:pPr>
            <a:r>
              <a:rPr lang="en-GB" sz="2400" b="0" i="0" u="none" strike="noStrike" baseline="0" dirty="0">
                <a:latin typeface="BerkeleyStd-Medium"/>
              </a:rPr>
              <a:t>Declaring the </a:t>
            </a:r>
            <a:r>
              <a:rPr lang="en-GB" sz="2400" b="0" i="1" u="none" strike="noStrike" baseline="0" dirty="0">
                <a:latin typeface="BerkeleyStd-Italic"/>
              </a:rPr>
              <a:t>grain </a:t>
            </a:r>
            <a:r>
              <a:rPr lang="en-GB" sz="2400" b="0" i="0" u="none" strike="noStrike" baseline="0" dirty="0">
                <a:latin typeface="BerkeleyStd-Medium"/>
              </a:rPr>
              <a:t>means specifying exactly what an individual fact table row represents. The grain conveys the level of detail associated with the fact table measurements. </a:t>
            </a:r>
          </a:p>
          <a:p>
            <a:pPr marL="0" indent="0" algn="l">
              <a:buNone/>
            </a:pPr>
            <a:endParaRPr lang="en-GB" sz="2400" dirty="0">
              <a:latin typeface="BerkeleyStd-Medium"/>
            </a:endParaRPr>
          </a:p>
          <a:p>
            <a:pPr marL="0" indent="0" algn="l">
              <a:buNone/>
            </a:pPr>
            <a:r>
              <a:rPr lang="en-GB" sz="2400" b="0" i="0" u="none" strike="noStrike" baseline="0" dirty="0">
                <a:latin typeface="BerkeleyStd-Medium"/>
              </a:rPr>
              <a:t>It provides the answer to the question, “How do you describe a single row in the fact table?” </a:t>
            </a:r>
          </a:p>
          <a:p>
            <a:pPr marL="0" indent="0" algn="l">
              <a:buNone/>
            </a:pPr>
            <a:endParaRPr lang="en-GB" sz="2400" dirty="0">
              <a:latin typeface="BerkeleyStd-Medium"/>
            </a:endParaRPr>
          </a:p>
          <a:p>
            <a:pPr marL="0" indent="0" algn="l">
              <a:buNone/>
            </a:pPr>
            <a:r>
              <a:rPr lang="en-GB" sz="2400" dirty="0">
                <a:latin typeface="BerkeleyStd-Medium"/>
              </a:rPr>
              <a:t>The grain is determined by the physical realities of the operational system that captures the business process’s events.</a:t>
            </a:r>
          </a:p>
          <a:p>
            <a:pPr marL="0" indent="0" algn="l">
              <a:buNone/>
            </a:pPr>
            <a:endParaRPr lang="en-GB" sz="2400" dirty="0">
              <a:latin typeface="BerkeleyStd-Medium"/>
            </a:endParaRPr>
          </a:p>
          <a:p>
            <a:pPr marL="0" indent="0" algn="l">
              <a:buNone/>
            </a:pPr>
            <a:r>
              <a:rPr lang="en-GB" sz="2400" dirty="0">
                <a:latin typeface="BerkeleyStd-Medium"/>
              </a:rPr>
              <a:t>Dimensional modelers sometimes try to bypass this seemingly unnecessary step of the four-step </a:t>
            </a:r>
            <a:r>
              <a:rPr lang="en-GB" sz="2400">
                <a:latin typeface="BerkeleyStd-Medium"/>
              </a:rPr>
              <a:t>design process</a:t>
            </a:r>
            <a:endParaRPr lang="en-GB" sz="2400" dirty="0">
              <a:latin typeface="BerkeleyStd-Medium"/>
            </a:endParaRPr>
          </a:p>
        </p:txBody>
      </p:sp>
    </p:spTree>
    <p:extLst>
      <p:ext uri="{BB962C8B-B14F-4D97-AF65-F5344CB8AC3E}">
        <p14:creationId xmlns:p14="http://schemas.microsoft.com/office/powerpoint/2010/main" val="4158998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CC811-1163-E32C-E163-E0FDC51BD0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44589-302D-EA7C-5337-6E271E2DD485}"/>
              </a:ext>
            </a:extLst>
          </p:cNvPr>
          <p:cNvSpPr>
            <a:spLocks noGrp="1"/>
          </p:cNvSpPr>
          <p:nvPr>
            <p:ph type="title"/>
          </p:nvPr>
        </p:nvSpPr>
        <p:spPr>
          <a:xfrm>
            <a:off x="838200" y="365126"/>
            <a:ext cx="10502348" cy="668544"/>
          </a:xfrm>
        </p:spPr>
        <p:txBody>
          <a:bodyPr vert="horz" lIns="91440" tIns="45720" rIns="91440" bIns="45720" rtlCol="0" anchor="ctr">
            <a:normAutofit/>
          </a:bodyPr>
          <a:lstStyle/>
          <a:p>
            <a:pPr algn="ctr"/>
            <a:r>
              <a:rPr lang="en-IN" sz="3200" dirty="0">
                <a:latin typeface="StoneSansStd-Medium"/>
              </a:rPr>
              <a:t>Dimensional Design Process – </a:t>
            </a:r>
            <a:r>
              <a:rPr lang="en-GB" sz="3200" dirty="0">
                <a:latin typeface="BerkeleyStd-Medium"/>
              </a:rPr>
              <a:t>Identifying Dimensions</a:t>
            </a:r>
            <a:endParaRPr lang="en-IN" sz="3200" dirty="0">
              <a:latin typeface="StoneSansStd-Medium"/>
            </a:endParaRPr>
          </a:p>
        </p:txBody>
      </p:sp>
      <p:sp>
        <p:nvSpPr>
          <p:cNvPr id="3" name="Content Placeholder 2">
            <a:extLst>
              <a:ext uri="{FF2B5EF4-FFF2-40B4-BE49-F238E27FC236}">
                <a16:creationId xmlns:a16="http://schemas.microsoft.com/office/drawing/2014/main" id="{92EAC0D6-553D-E7B7-B85B-EC35E8D5BD83}"/>
              </a:ext>
            </a:extLst>
          </p:cNvPr>
          <p:cNvSpPr>
            <a:spLocks noGrp="1"/>
          </p:cNvSpPr>
          <p:nvPr>
            <p:ph idx="1"/>
          </p:nvPr>
        </p:nvSpPr>
        <p:spPr>
          <a:xfrm>
            <a:off x="188843" y="1338606"/>
            <a:ext cx="11857383" cy="5300733"/>
          </a:xfrm>
        </p:spPr>
        <p:txBody>
          <a:bodyPr>
            <a:noAutofit/>
          </a:bodyPr>
          <a:lstStyle/>
          <a:p>
            <a:pPr marL="0" indent="0" algn="l">
              <a:buNone/>
            </a:pPr>
            <a:r>
              <a:rPr lang="en-GB" sz="2400" dirty="0">
                <a:latin typeface="BerkeleyStd-Medium"/>
              </a:rPr>
              <a:t>Step 3: Identifying Dimensions</a:t>
            </a:r>
          </a:p>
          <a:p>
            <a:pPr marL="0" indent="0" algn="l">
              <a:buNone/>
            </a:pPr>
            <a:r>
              <a:rPr lang="en-GB" sz="2400" dirty="0">
                <a:latin typeface="BerkeleyStd-Medium"/>
              </a:rPr>
              <a:t>Once grain is determined, the dimensions typically can easily be identified as they represent the “who, what, where, when, why, and how” associated with the event</a:t>
            </a:r>
          </a:p>
          <a:p>
            <a:pPr marL="0" indent="0" algn="l">
              <a:buNone/>
            </a:pPr>
            <a:endParaRPr lang="en-GB" sz="2400" dirty="0">
              <a:latin typeface="BerkeleyStd-Medium"/>
            </a:endParaRPr>
          </a:p>
          <a:p>
            <a:pPr marL="0" indent="0" algn="l">
              <a:buNone/>
            </a:pPr>
            <a:r>
              <a:rPr lang="en-GB" sz="2400" dirty="0">
                <a:latin typeface="BerkeleyStd-Medium"/>
              </a:rPr>
              <a:t>Common dimensions include date, product, customer, employee, and facility</a:t>
            </a:r>
          </a:p>
          <a:p>
            <a:pPr marL="0" indent="0" algn="l">
              <a:buNone/>
            </a:pPr>
            <a:endParaRPr lang="en-GB" sz="2400" dirty="0">
              <a:latin typeface="BerkeleyStd-Medium"/>
            </a:endParaRPr>
          </a:p>
          <a:p>
            <a:pPr marL="0" indent="0" algn="l">
              <a:buNone/>
            </a:pPr>
            <a:r>
              <a:rPr lang="en-GB" sz="2400" dirty="0">
                <a:latin typeface="BerkeleyStd-Medium"/>
              </a:rPr>
              <a:t> </a:t>
            </a:r>
          </a:p>
        </p:txBody>
      </p:sp>
    </p:spTree>
    <p:extLst>
      <p:ext uri="{BB962C8B-B14F-4D97-AF65-F5344CB8AC3E}">
        <p14:creationId xmlns:p14="http://schemas.microsoft.com/office/powerpoint/2010/main" val="7525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4924E-4007-8D99-2A3A-BD45097BE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EA86D-82C0-C855-4D28-AA29AC48DE24}"/>
              </a:ext>
            </a:extLst>
          </p:cNvPr>
          <p:cNvSpPr>
            <a:spLocks noGrp="1"/>
          </p:cNvSpPr>
          <p:nvPr>
            <p:ph type="title"/>
          </p:nvPr>
        </p:nvSpPr>
        <p:spPr>
          <a:xfrm>
            <a:off x="838200" y="365126"/>
            <a:ext cx="10502348" cy="668544"/>
          </a:xfrm>
        </p:spPr>
        <p:txBody>
          <a:bodyPr vert="horz" lIns="91440" tIns="45720" rIns="91440" bIns="45720" rtlCol="0" anchor="ctr">
            <a:normAutofit/>
          </a:bodyPr>
          <a:lstStyle/>
          <a:p>
            <a:pPr algn="ctr"/>
            <a:r>
              <a:rPr lang="en-IN" sz="3200" dirty="0">
                <a:latin typeface="StoneSansStd-Medium"/>
              </a:rPr>
              <a:t>Dimensional Design Process – </a:t>
            </a:r>
            <a:r>
              <a:rPr lang="en-GB" sz="3200" dirty="0">
                <a:latin typeface="BerkeleyStd-Medium"/>
              </a:rPr>
              <a:t>Identifying Facts</a:t>
            </a:r>
            <a:endParaRPr lang="en-IN" sz="3200" dirty="0">
              <a:latin typeface="StoneSansStd-Medium"/>
            </a:endParaRPr>
          </a:p>
        </p:txBody>
      </p:sp>
      <p:sp>
        <p:nvSpPr>
          <p:cNvPr id="3" name="Content Placeholder 2">
            <a:extLst>
              <a:ext uri="{FF2B5EF4-FFF2-40B4-BE49-F238E27FC236}">
                <a16:creationId xmlns:a16="http://schemas.microsoft.com/office/drawing/2014/main" id="{0654A90C-CA22-0DCE-0C9C-CDDEB0949883}"/>
              </a:ext>
            </a:extLst>
          </p:cNvPr>
          <p:cNvSpPr>
            <a:spLocks noGrp="1"/>
          </p:cNvSpPr>
          <p:nvPr>
            <p:ph idx="1"/>
          </p:nvPr>
        </p:nvSpPr>
        <p:spPr>
          <a:xfrm>
            <a:off x="188843" y="1338606"/>
            <a:ext cx="11857383" cy="5300733"/>
          </a:xfrm>
        </p:spPr>
        <p:txBody>
          <a:bodyPr>
            <a:noAutofit/>
          </a:bodyPr>
          <a:lstStyle/>
          <a:p>
            <a:pPr marL="0" indent="0" algn="l">
              <a:buNone/>
            </a:pPr>
            <a:r>
              <a:rPr lang="en-GB" sz="2400" dirty="0">
                <a:latin typeface="BerkeleyStd-Medium"/>
              </a:rPr>
              <a:t>Step 4: Identifying Facts</a:t>
            </a:r>
          </a:p>
          <a:p>
            <a:pPr marL="0" indent="0" algn="l">
              <a:buNone/>
            </a:pPr>
            <a:r>
              <a:rPr lang="en-GB" sz="2400" dirty="0">
                <a:latin typeface="BerkeleyStd-Medium"/>
              </a:rPr>
              <a:t>Facts are determined by answering the question, “What is the process measuring?”</a:t>
            </a:r>
          </a:p>
          <a:p>
            <a:pPr marL="0" indent="0" algn="l">
              <a:buNone/>
            </a:pPr>
            <a:endParaRPr lang="en-GB" sz="2400" dirty="0">
              <a:latin typeface="BerkeleyStd-Medium"/>
            </a:endParaRPr>
          </a:p>
          <a:p>
            <a:pPr marL="0" indent="0" algn="l">
              <a:buNone/>
            </a:pPr>
            <a:r>
              <a:rPr lang="en-IN" sz="2400" dirty="0">
                <a:latin typeface="BerkeleyStd-Medium"/>
              </a:rPr>
              <a:t>Typical facts are numeric additive figures,</a:t>
            </a:r>
            <a:endParaRPr lang="en-GB" sz="2400" dirty="0">
              <a:latin typeface="BerkeleyStd-Medium"/>
            </a:endParaRPr>
          </a:p>
          <a:p>
            <a:pPr marL="0" indent="0" algn="l">
              <a:buNone/>
            </a:pPr>
            <a:r>
              <a:rPr lang="en-GB" sz="2400" dirty="0">
                <a:latin typeface="BerkeleyStd-Medium"/>
              </a:rPr>
              <a:t> </a:t>
            </a:r>
          </a:p>
          <a:p>
            <a:pPr marL="0" indent="0" algn="l">
              <a:buNone/>
            </a:pPr>
            <a:endParaRPr lang="en-GB" sz="2400" dirty="0">
              <a:latin typeface="BerkeleyStd-Medium"/>
            </a:endParaRPr>
          </a:p>
          <a:p>
            <a:pPr marL="0" indent="0" algn="l">
              <a:buNone/>
            </a:pPr>
            <a:r>
              <a:rPr lang="en-GB" sz="2400" dirty="0">
                <a:latin typeface="BerkeleyStd-Medium"/>
              </a:rPr>
              <a:t> </a:t>
            </a:r>
          </a:p>
        </p:txBody>
      </p:sp>
      <p:pic>
        <p:nvPicPr>
          <p:cNvPr id="5" name="Picture 4">
            <a:extLst>
              <a:ext uri="{FF2B5EF4-FFF2-40B4-BE49-F238E27FC236}">
                <a16:creationId xmlns:a16="http://schemas.microsoft.com/office/drawing/2014/main" id="{DD501609-9C38-B8DB-2B09-8AD8BAB51941}"/>
              </a:ext>
            </a:extLst>
          </p:cNvPr>
          <p:cNvPicPr>
            <a:picLocks noChangeAspect="1"/>
          </p:cNvPicPr>
          <p:nvPr/>
        </p:nvPicPr>
        <p:blipFill>
          <a:blip r:embed="rId2"/>
          <a:stretch>
            <a:fillRect/>
          </a:stretch>
        </p:blipFill>
        <p:spPr>
          <a:xfrm>
            <a:off x="1938584" y="3685865"/>
            <a:ext cx="8037481" cy="2327309"/>
          </a:xfrm>
          <a:prstGeom prst="rect">
            <a:avLst/>
          </a:prstGeom>
        </p:spPr>
      </p:pic>
    </p:spTree>
    <p:extLst>
      <p:ext uri="{BB962C8B-B14F-4D97-AF65-F5344CB8AC3E}">
        <p14:creationId xmlns:p14="http://schemas.microsoft.com/office/powerpoint/2010/main" val="727480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1A8C2-9DDD-70C8-29BB-DF6B863AB6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8D2F57-E99F-B6F0-2F51-F6F20316663C}"/>
              </a:ext>
            </a:extLst>
          </p:cNvPr>
          <p:cNvSpPr>
            <a:spLocks noGrp="1"/>
          </p:cNvSpPr>
          <p:nvPr>
            <p:ph type="title"/>
          </p:nvPr>
        </p:nvSpPr>
        <p:spPr>
          <a:xfrm>
            <a:off x="738809" y="116648"/>
            <a:ext cx="10502348" cy="668544"/>
          </a:xfrm>
        </p:spPr>
        <p:txBody>
          <a:bodyPr vert="horz" lIns="91440" tIns="45720" rIns="91440" bIns="45720" rtlCol="0" anchor="ctr">
            <a:normAutofit/>
          </a:bodyPr>
          <a:lstStyle/>
          <a:p>
            <a:pPr algn="ctr"/>
            <a:r>
              <a:rPr lang="en-IN" sz="3200" dirty="0">
                <a:latin typeface="StoneSansStd-Medium"/>
              </a:rPr>
              <a:t>Retail Case Study </a:t>
            </a:r>
          </a:p>
        </p:txBody>
      </p:sp>
      <p:sp>
        <p:nvSpPr>
          <p:cNvPr id="3" name="Content Placeholder 2">
            <a:extLst>
              <a:ext uri="{FF2B5EF4-FFF2-40B4-BE49-F238E27FC236}">
                <a16:creationId xmlns:a16="http://schemas.microsoft.com/office/drawing/2014/main" id="{2C12EA19-7BC7-81AE-2E9B-E29148924558}"/>
              </a:ext>
            </a:extLst>
          </p:cNvPr>
          <p:cNvSpPr>
            <a:spLocks noGrp="1"/>
          </p:cNvSpPr>
          <p:nvPr>
            <p:ph idx="1"/>
          </p:nvPr>
        </p:nvSpPr>
        <p:spPr>
          <a:xfrm>
            <a:off x="167308" y="960919"/>
            <a:ext cx="11898796" cy="5897081"/>
          </a:xfrm>
        </p:spPr>
        <p:txBody>
          <a:bodyPr>
            <a:noAutofit/>
          </a:bodyPr>
          <a:lstStyle/>
          <a:p>
            <a:pPr marL="0" indent="0" algn="l">
              <a:buNone/>
            </a:pPr>
            <a:r>
              <a:rPr lang="en-GB" sz="2400" dirty="0">
                <a:latin typeface="BerkeleyStd-Medium"/>
              </a:rPr>
              <a:t>Let us assume that it is Data warehouse implementation for large grocery chain with 100 grocery stores across 5 states  </a:t>
            </a:r>
          </a:p>
          <a:p>
            <a:pPr marL="0" indent="0" algn="l">
              <a:buNone/>
            </a:pPr>
            <a:endParaRPr lang="en-GB" sz="2400" dirty="0">
              <a:latin typeface="BerkeleyStd-Medium"/>
            </a:endParaRPr>
          </a:p>
          <a:p>
            <a:pPr marL="0" indent="0" algn="l">
              <a:buNone/>
            </a:pPr>
            <a:r>
              <a:rPr lang="en-GB" sz="2400" dirty="0">
                <a:latin typeface="BerkeleyStd-Medium"/>
              </a:rPr>
              <a:t>Each store has a full complement of departments, including grocery, frozen foods, dairy, meat, produce, bakery, floral, and health/beauty aids. </a:t>
            </a:r>
          </a:p>
          <a:p>
            <a:pPr marL="0" indent="0" algn="l">
              <a:buNone/>
            </a:pPr>
            <a:endParaRPr lang="en-GB" sz="2400" dirty="0">
              <a:latin typeface="BerkeleyStd-Medium"/>
            </a:endParaRPr>
          </a:p>
          <a:p>
            <a:pPr marL="0" indent="0" algn="l">
              <a:buNone/>
            </a:pPr>
            <a:r>
              <a:rPr lang="en-GB" sz="2400" dirty="0">
                <a:latin typeface="BerkeleyStd-Medium"/>
              </a:rPr>
              <a:t>Each store has approximately 60,000 individual products, called stock keeping units (SKUs), on its shelves.</a:t>
            </a:r>
          </a:p>
          <a:p>
            <a:pPr marL="0" indent="0" algn="l">
              <a:buNone/>
            </a:pPr>
            <a:endParaRPr lang="en-GB" sz="2400" dirty="0">
              <a:latin typeface="BerkeleyStd-Medium"/>
            </a:endParaRPr>
          </a:p>
          <a:p>
            <a:pPr marL="0" indent="0" algn="l">
              <a:buNone/>
            </a:pPr>
            <a:r>
              <a:rPr lang="en-GB" sz="2400" dirty="0">
                <a:latin typeface="BerkeleyStd-Medium"/>
              </a:rPr>
              <a:t>Data is collected at several places in a grocery store. Some of the most useful data is collected at the cash registers as customers purchase products. </a:t>
            </a:r>
          </a:p>
          <a:p>
            <a:pPr marL="0" indent="0" algn="l">
              <a:buNone/>
            </a:pPr>
            <a:endParaRPr lang="en-GB" sz="2400" dirty="0">
              <a:latin typeface="BerkeleyStd-Medium"/>
            </a:endParaRPr>
          </a:p>
          <a:p>
            <a:pPr marL="0" indent="0" algn="l">
              <a:buNone/>
            </a:pPr>
            <a:r>
              <a:rPr lang="en-GB" sz="2400" dirty="0">
                <a:latin typeface="BerkeleyStd-Medium"/>
              </a:rPr>
              <a:t>The point-of-sale (POS) system scans product barcodes at the cash register, measuring consumer takeaway at the front door of the grocery store,</a:t>
            </a:r>
          </a:p>
          <a:p>
            <a:pPr marL="0" indent="0" algn="l">
              <a:buNone/>
            </a:pPr>
            <a:r>
              <a:rPr lang="en-GB" sz="2400" dirty="0">
                <a:latin typeface="BerkeleyStd-Medium"/>
              </a:rPr>
              <a:t> </a:t>
            </a:r>
          </a:p>
        </p:txBody>
      </p:sp>
    </p:spTree>
    <p:extLst>
      <p:ext uri="{BB962C8B-B14F-4D97-AF65-F5344CB8AC3E}">
        <p14:creationId xmlns:p14="http://schemas.microsoft.com/office/powerpoint/2010/main" val="300496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9EBCA-544D-8552-AD57-8533FE0FA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92F34-99F8-0F3C-828C-34799062D912}"/>
              </a:ext>
            </a:extLst>
          </p:cNvPr>
          <p:cNvSpPr>
            <a:spLocks noGrp="1"/>
          </p:cNvSpPr>
          <p:nvPr>
            <p:ph type="title"/>
          </p:nvPr>
        </p:nvSpPr>
        <p:spPr>
          <a:xfrm>
            <a:off x="738809" y="116648"/>
            <a:ext cx="10104782" cy="668544"/>
          </a:xfrm>
        </p:spPr>
        <p:txBody>
          <a:bodyPr vert="horz" lIns="91440" tIns="45720" rIns="91440" bIns="45720" rtlCol="0" anchor="ctr">
            <a:normAutofit/>
          </a:bodyPr>
          <a:lstStyle/>
          <a:p>
            <a:pPr algn="ctr"/>
            <a:r>
              <a:rPr lang="en-IN" sz="3200" dirty="0">
                <a:latin typeface="StoneSansStd-Medium"/>
              </a:rPr>
              <a:t>Retail Case Study </a:t>
            </a:r>
          </a:p>
        </p:txBody>
      </p:sp>
      <p:sp>
        <p:nvSpPr>
          <p:cNvPr id="3" name="Content Placeholder 2">
            <a:extLst>
              <a:ext uri="{FF2B5EF4-FFF2-40B4-BE49-F238E27FC236}">
                <a16:creationId xmlns:a16="http://schemas.microsoft.com/office/drawing/2014/main" id="{DD566FA9-44B8-92D2-2924-B6BDCCBADD25}"/>
              </a:ext>
            </a:extLst>
          </p:cNvPr>
          <p:cNvSpPr>
            <a:spLocks noGrp="1"/>
          </p:cNvSpPr>
          <p:nvPr>
            <p:ph idx="1"/>
          </p:nvPr>
        </p:nvSpPr>
        <p:spPr>
          <a:xfrm>
            <a:off x="167308" y="960918"/>
            <a:ext cx="7903266" cy="5780433"/>
          </a:xfrm>
        </p:spPr>
        <p:txBody>
          <a:bodyPr>
            <a:noAutofit/>
          </a:bodyPr>
          <a:lstStyle/>
          <a:p>
            <a:pPr marL="0" indent="0" algn="l">
              <a:buNone/>
            </a:pPr>
            <a:r>
              <a:rPr lang="en-GB" sz="2400" dirty="0">
                <a:latin typeface="BerkeleyStd-Medium"/>
              </a:rPr>
              <a:t>Let us assume that it is Data warehouse implementation for large grocery chain with 100 grocery stores across 5 states  </a:t>
            </a:r>
          </a:p>
          <a:p>
            <a:pPr algn="l"/>
            <a:r>
              <a:rPr lang="en-GB" sz="2400" dirty="0">
                <a:latin typeface="BerkeleyStd-Medium"/>
              </a:rPr>
              <a:t>At the grocery store, management is concerned with the logistics of ordering, stocking, and selling products while maximizing  profit. </a:t>
            </a:r>
          </a:p>
          <a:p>
            <a:pPr algn="l"/>
            <a:r>
              <a:rPr lang="en-GB" sz="2400" dirty="0">
                <a:latin typeface="BerkeleyStd-Medium"/>
              </a:rPr>
              <a:t>Profit comes from charging as much as possible for each product, lowering costs for product acquisition &amp; overhead, and at the same time attracting as many customers.</a:t>
            </a:r>
          </a:p>
          <a:p>
            <a:r>
              <a:rPr lang="en-GB" sz="2400" dirty="0">
                <a:latin typeface="BerkeleyStd-Medium"/>
              </a:rPr>
              <a:t>Promotions in a grocery store include temporary price reductions, ads in newspapers and newspaper inserts, displays in the grocery store, and coupons.</a:t>
            </a:r>
          </a:p>
          <a:p>
            <a:pPr algn="l"/>
            <a:r>
              <a:rPr lang="en-GB" sz="2400" dirty="0">
                <a:latin typeface="BerkeleyStd-Medium"/>
              </a:rPr>
              <a:t>But reduction in price in every cases may hit the profit directly. As a result of these issues, the visibility of all forms of promotion is an important part of </a:t>
            </a:r>
            <a:r>
              <a:rPr lang="en-GB" sz="2400" dirty="0" err="1">
                <a:latin typeface="BerkeleyStd-Medium"/>
              </a:rPr>
              <a:t>analyzing</a:t>
            </a:r>
            <a:r>
              <a:rPr lang="en-GB" sz="2400" dirty="0">
                <a:latin typeface="BerkeleyStd-Medium"/>
              </a:rPr>
              <a:t> the operations of a grocery store.</a:t>
            </a:r>
          </a:p>
        </p:txBody>
      </p:sp>
      <p:pic>
        <p:nvPicPr>
          <p:cNvPr id="5" name="Picture 4">
            <a:extLst>
              <a:ext uri="{FF2B5EF4-FFF2-40B4-BE49-F238E27FC236}">
                <a16:creationId xmlns:a16="http://schemas.microsoft.com/office/drawing/2014/main" id="{E062A089-E374-4241-5F76-49370381CBFD}"/>
              </a:ext>
            </a:extLst>
          </p:cNvPr>
          <p:cNvPicPr>
            <a:picLocks noChangeAspect="1"/>
          </p:cNvPicPr>
          <p:nvPr/>
        </p:nvPicPr>
        <p:blipFill>
          <a:blip r:embed="rId2"/>
          <a:stretch>
            <a:fillRect/>
          </a:stretch>
        </p:blipFill>
        <p:spPr>
          <a:xfrm>
            <a:off x="8175912" y="450920"/>
            <a:ext cx="4016088" cy="6408975"/>
          </a:xfrm>
          <a:prstGeom prst="rect">
            <a:avLst/>
          </a:prstGeom>
        </p:spPr>
      </p:pic>
    </p:spTree>
    <p:extLst>
      <p:ext uri="{BB962C8B-B14F-4D97-AF65-F5344CB8AC3E}">
        <p14:creationId xmlns:p14="http://schemas.microsoft.com/office/powerpoint/2010/main" val="1514832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B8FD9-B3FD-E891-4041-D03A458B7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90C99-A62B-57EF-07B4-1FF995AB06AC}"/>
              </a:ext>
            </a:extLst>
          </p:cNvPr>
          <p:cNvSpPr>
            <a:spLocks noGrp="1"/>
          </p:cNvSpPr>
          <p:nvPr>
            <p:ph type="title"/>
          </p:nvPr>
        </p:nvSpPr>
        <p:spPr>
          <a:xfrm>
            <a:off x="738809" y="116648"/>
            <a:ext cx="10104782" cy="668544"/>
          </a:xfrm>
        </p:spPr>
        <p:txBody>
          <a:bodyPr vert="horz" lIns="91440" tIns="45720" rIns="91440" bIns="45720" rtlCol="0" anchor="ctr">
            <a:normAutofit/>
          </a:bodyPr>
          <a:lstStyle/>
          <a:p>
            <a:pPr algn="ctr"/>
            <a:r>
              <a:rPr lang="en-IN" sz="3200" dirty="0">
                <a:latin typeface="StoneSansStd-Medium"/>
              </a:rPr>
              <a:t>Retail Case Study - </a:t>
            </a:r>
            <a:r>
              <a:rPr lang="en-GB" sz="3200" dirty="0">
                <a:latin typeface="StoneSansStd-Medium"/>
              </a:rPr>
              <a:t>Step 1: Select the Business Process</a:t>
            </a:r>
            <a:endParaRPr lang="en-IN" sz="3200" dirty="0">
              <a:latin typeface="StoneSansStd-Medium"/>
            </a:endParaRPr>
          </a:p>
        </p:txBody>
      </p:sp>
      <p:sp>
        <p:nvSpPr>
          <p:cNvPr id="3" name="Content Placeholder 2">
            <a:extLst>
              <a:ext uri="{FF2B5EF4-FFF2-40B4-BE49-F238E27FC236}">
                <a16:creationId xmlns:a16="http://schemas.microsoft.com/office/drawing/2014/main" id="{D38FE69D-B7D8-FED0-B387-0C5375488714}"/>
              </a:ext>
            </a:extLst>
          </p:cNvPr>
          <p:cNvSpPr>
            <a:spLocks noGrp="1"/>
          </p:cNvSpPr>
          <p:nvPr>
            <p:ph idx="1"/>
          </p:nvPr>
        </p:nvSpPr>
        <p:spPr>
          <a:xfrm>
            <a:off x="167307" y="960918"/>
            <a:ext cx="11232875" cy="5780433"/>
          </a:xfrm>
        </p:spPr>
        <p:txBody>
          <a:bodyPr>
            <a:noAutofit/>
          </a:bodyPr>
          <a:lstStyle/>
          <a:p>
            <a:pPr marL="0" indent="0" algn="l">
              <a:buNone/>
            </a:pPr>
            <a:r>
              <a:rPr lang="en-GB" sz="2400" dirty="0">
                <a:latin typeface="BerkeleyStd-Medium"/>
              </a:rPr>
              <a:t>In our retail case study, management wants to better understand customer purchases as captured by the POS system. </a:t>
            </a:r>
          </a:p>
          <a:p>
            <a:pPr marL="0" indent="0" algn="l">
              <a:buNone/>
            </a:pPr>
            <a:endParaRPr lang="en-GB" sz="2400" dirty="0">
              <a:latin typeface="BerkeleyStd-Medium"/>
            </a:endParaRPr>
          </a:p>
          <a:p>
            <a:pPr marL="0" indent="0" algn="l">
              <a:buNone/>
            </a:pPr>
            <a:r>
              <a:rPr lang="en-GB" sz="2400" dirty="0">
                <a:latin typeface="BerkeleyStd-Medium"/>
              </a:rPr>
              <a:t>Thus, we need to focus on most critical business process we are modelling is POS retail sales transactions. </a:t>
            </a:r>
          </a:p>
          <a:p>
            <a:pPr marL="0" indent="0" algn="l">
              <a:buNone/>
            </a:pPr>
            <a:endParaRPr lang="en-GB" sz="2400" dirty="0">
              <a:latin typeface="BerkeleyStd-Medium"/>
            </a:endParaRPr>
          </a:p>
          <a:p>
            <a:pPr marL="0" indent="0" algn="l">
              <a:buNone/>
            </a:pPr>
            <a:r>
              <a:rPr lang="en-GB" sz="2400" dirty="0">
                <a:latin typeface="BerkeleyStd-Medium"/>
              </a:rPr>
              <a:t>This data enables the business users to </a:t>
            </a:r>
            <a:r>
              <a:rPr lang="en-GB" sz="2400" dirty="0" err="1">
                <a:latin typeface="BerkeleyStd-Medium"/>
              </a:rPr>
              <a:t>analyze</a:t>
            </a:r>
            <a:r>
              <a:rPr lang="en-GB" sz="2400" dirty="0">
                <a:latin typeface="BerkeleyStd-Medium"/>
              </a:rPr>
              <a:t> which products are selling in which stores on which days under what promotional </a:t>
            </a:r>
            <a:r>
              <a:rPr lang="en-IN" sz="2400" dirty="0">
                <a:latin typeface="BerkeleyStd-Medium"/>
              </a:rPr>
              <a:t>conditions in which transactions.</a:t>
            </a:r>
            <a:endParaRPr lang="en-GB" sz="2400" dirty="0">
              <a:latin typeface="BerkeleyStd-Medium"/>
            </a:endParaRPr>
          </a:p>
        </p:txBody>
      </p:sp>
    </p:spTree>
    <p:extLst>
      <p:ext uri="{BB962C8B-B14F-4D97-AF65-F5344CB8AC3E}">
        <p14:creationId xmlns:p14="http://schemas.microsoft.com/office/powerpoint/2010/main" val="4143315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FAD05-5F2E-CF00-6078-14845546C1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3F59D-B08B-C1E6-D973-FC535A24FFBB}"/>
              </a:ext>
            </a:extLst>
          </p:cNvPr>
          <p:cNvSpPr>
            <a:spLocks noGrp="1"/>
          </p:cNvSpPr>
          <p:nvPr>
            <p:ph type="title"/>
          </p:nvPr>
        </p:nvSpPr>
        <p:spPr>
          <a:xfrm>
            <a:off x="738809" y="116648"/>
            <a:ext cx="10104782" cy="668544"/>
          </a:xfrm>
        </p:spPr>
        <p:txBody>
          <a:bodyPr vert="horz" lIns="91440" tIns="45720" rIns="91440" bIns="45720" rtlCol="0" anchor="ctr">
            <a:normAutofit/>
          </a:bodyPr>
          <a:lstStyle/>
          <a:p>
            <a:pPr algn="ctr"/>
            <a:r>
              <a:rPr lang="en-IN" sz="3200" dirty="0">
                <a:latin typeface="StoneSansStd-Medium"/>
              </a:rPr>
              <a:t>Retail Case Study - </a:t>
            </a:r>
            <a:r>
              <a:rPr lang="en-GB" sz="3200" dirty="0">
                <a:latin typeface="StoneSansStd-Medium"/>
              </a:rPr>
              <a:t>Step 2: Declare the Grain</a:t>
            </a:r>
            <a:endParaRPr lang="en-IN" sz="3200" dirty="0">
              <a:latin typeface="StoneSansStd-Medium"/>
            </a:endParaRPr>
          </a:p>
        </p:txBody>
      </p:sp>
      <p:sp>
        <p:nvSpPr>
          <p:cNvPr id="3" name="Content Placeholder 2">
            <a:extLst>
              <a:ext uri="{FF2B5EF4-FFF2-40B4-BE49-F238E27FC236}">
                <a16:creationId xmlns:a16="http://schemas.microsoft.com/office/drawing/2014/main" id="{F8E2872D-6A03-BF19-8E04-C53898D63408}"/>
              </a:ext>
            </a:extLst>
          </p:cNvPr>
          <p:cNvSpPr>
            <a:spLocks noGrp="1"/>
          </p:cNvSpPr>
          <p:nvPr>
            <p:ph idx="1"/>
          </p:nvPr>
        </p:nvSpPr>
        <p:spPr>
          <a:xfrm>
            <a:off x="144944" y="646044"/>
            <a:ext cx="12047056" cy="6211956"/>
          </a:xfrm>
        </p:spPr>
        <p:txBody>
          <a:bodyPr>
            <a:noAutofit/>
          </a:bodyPr>
          <a:lstStyle/>
          <a:p>
            <a:pPr marL="0" indent="0" algn="l">
              <a:buNone/>
            </a:pPr>
            <a:r>
              <a:rPr lang="en-GB" sz="2400" dirty="0">
                <a:latin typeface="BerkeleyStd-Medium"/>
              </a:rPr>
              <a:t>Next steps is to find granularity - What level of data detail should be made available in </a:t>
            </a:r>
            <a:r>
              <a:rPr lang="en-IN" sz="2400" dirty="0">
                <a:latin typeface="BerkeleyStd-Medium"/>
              </a:rPr>
              <a:t>the dimensional model?</a:t>
            </a:r>
            <a:endParaRPr lang="en-GB" sz="2400" dirty="0">
              <a:latin typeface="BerkeleyStd-Medium"/>
            </a:endParaRPr>
          </a:p>
          <a:p>
            <a:pPr marL="0" indent="0" algn="l">
              <a:buNone/>
            </a:pPr>
            <a:r>
              <a:rPr lang="en-IN" sz="2400" dirty="0">
                <a:latin typeface="BerkeleyStd-Medium"/>
              </a:rPr>
              <a:t>Atomic data is highly dimensional.</a:t>
            </a:r>
            <a:endParaRPr lang="en-GB" sz="2400" dirty="0">
              <a:latin typeface="BerkeleyStd-Medium"/>
            </a:endParaRPr>
          </a:p>
          <a:p>
            <a:pPr marL="0" indent="0" algn="l">
              <a:buNone/>
            </a:pPr>
            <a:r>
              <a:rPr lang="en-GB" sz="2400" dirty="0">
                <a:latin typeface="BerkeleyStd-Medium"/>
              </a:rPr>
              <a:t>In this case study, the most granular data is an individual product on a POS transaction, assuming the POS system rolls up all sales for a given product within a shopping cart into a single line item.</a:t>
            </a:r>
          </a:p>
          <a:p>
            <a:pPr marL="0" indent="0" algn="l">
              <a:buNone/>
            </a:pPr>
            <a:endParaRPr lang="en-GB" sz="2400" dirty="0">
              <a:latin typeface="BerkeleyStd-Medium"/>
            </a:endParaRPr>
          </a:p>
          <a:p>
            <a:pPr marL="0" indent="0" algn="l">
              <a:buNone/>
            </a:pPr>
            <a:r>
              <a:rPr lang="en-GB" sz="2400" dirty="0">
                <a:latin typeface="BerkeleyStd-Medium"/>
              </a:rPr>
              <a:t>User are more interested to know about :</a:t>
            </a:r>
          </a:p>
          <a:p>
            <a:r>
              <a:rPr lang="en-GB" sz="2200" b="0" i="0" u="none" strike="noStrike" baseline="0" dirty="0">
                <a:latin typeface="BerkeleyStd-Medium"/>
              </a:rPr>
              <a:t>What is the difference in sales on Monday versus Sunday. </a:t>
            </a:r>
          </a:p>
          <a:p>
            <a:r>
              <a:rPr lang="en-GB" sz="2200" dirty="0">
                <a:latin typeface="BerkeleyStd-Medium"/>
              </a:rPr>
              <a:t>Whether to s</a:t>
            </a:r>
            <a:r>
              <a:rPr lang="en-GB" sz="2200" b="0" i="0" u="none" strike="noStrike" baseline="0" dirty="0">
                <a:latin typeface="BerkeleyStd-Medium"/>
              </a:rPr>
              <a:t>tock so many individual sizes of certain brands. </a:t>
            </a:r>
          </a:p>
          <a:p>
            <a:r>
              <a:rPr lang="en-GB" sz="2200" dirty="0">
                <a:latin typeface="BerkeleyStd-Medium"/>
              </a:rPr>
              <a:t>H</a:t>
            </a:r>
            <a:r>
              <a:rPr lang="en-GB" sz="2200" b="0" i="0" u="none" strike="noStrike" baseline="0" dirty="0">
                <a:latin typeface="BerkeleyStd-Medium"/>
              </a:rPr>
              <a:t>ow many shoppers took advantage of the 50-cents-off promotion on shampoo?</a:t>
            </a:r>
          </a:p>
          <a:p>
            <a:r>
              <a:rPr lang="en-GB" sz="2200" dirty="0">
                <a:latin typeface="BerkeleyStd-Medium"/>
              </a:rPr>
              <a:t>What is the </a:t>
            </a:r>
            <a:r>
              <a:rPr lang="en-GB" sz="2200" b="0" i="0" u="none" strike="noStrike" baseline="0" dirty="0">
                <a:latin typeface="BerkeleyStd-Medium"/>
              </a:rPr>
              <a:t>impact of decreased sales when a competitive diet soda product was promoted heavily? </a:t>
            </a:r>
          </a:p>
          <a:p>
            <a:pPr marL="0" indent="0" algn="l">
              <a:buNone/>
            </a:pPr>
            <a:r>
              <a:rPr lang="en-GB" sz="2400" b="0" i="0" u="none" strike="noStrike" baseline="0" dirty="0">
                <a:latin typeface="BerkeleyStd-Medium"/>
              </a:rPr>
              <a:t>None of these queries calls for data from one specific transaction but they are broad questions that require detailed data sliced in precise ways. </a:t>
            </a:r>
          </a:p>
          <a:p>
            <a:pPr marL="0" indent="0" algn="l">
              <a:buNone/>
            </a:pPr>
            <a:r>
              <a:rPr lang="en-GB" sz="2400" b="0" i="0" u="none" strike="noStrike" baseline="0" dirty="0">
                <a:latin typeface="BerkeleyStd-Medium"/>
              </a:rPr>
              <a:t>None of them could have been answered with summarized data only.</a:t>
            </a:r>
            <a:endParaRPr lang="en-GB" sz="2400" dirty="0">
              <a:latin typeface="BerkeleyStd-Medium"/>
            </a:endParaRPr>
          </a:p>
        </p:txBody>
      </p:sp>
    </p:spTree>
    <p:extLst>
      <p:ext uri="{BB962C8B-B14F-4D97-AF65-F5344CB8AC3E}">
        <p14:creationId xmlns:p14="http://schemas.microsoft.com/office/powerpoint/2010/main" val="842195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17D58-55BE-DD34-83A5-39709953B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C3415-BEEB-F7E0-3F4D-6D9AADA17A0F}"/>
              </a:ext>
            </a:extLst>
          </p:cNvPr>
          <p:cNvSpPr>
            <a:spLocks noGrp="1"/>
          </p:cNvSpPr>
          <p:nvPr>
            <p:ph type="title"/>
          </p:nvPr>
        </p:nvSpPr>
        <p:spPr>
          <a:xfrm>
            <a:off x="738809" y="116648"/>
            <a:ext cx="10104782" cy="668544"/>
          </a:xfrm>
        </p:spPr>
        <p:txBody>
          <a:bodyPr vert="horz" lIns="91440" tIns="45720" rIns="91440" bIns="45720" rtlCol="0" anchor="ctr">
            <a:normAutofit/>
          </a:bodyPr>
          <a:lstStyle/>
          <a:p>
            <a:pPr algn="ctr"/>
            <a:r>
              <a:rPr lang="en-IN" sz="3200" dirty="0">
                <a:latin typeface="StoneSansStd-Medium"/>
              </a:rPr>
              <a:t>Retail Case Study - </a:t>
            </a:r>
            <a:r>
              <a:rPr lang="en-GB" sz="3200" dirty="0">
                <a:latin typeface="StoneSansStd-Medium"/>
              </a:rPr>
              <a:t>Step 3: Identify Dimensions </a:t>
            </a:r>
            <a:endParaRPr lang="en-IN" sz="3200" dirty="0">
              <a:latin typeface="StoneSansStd-Medium"/>
            </a:endParaRPr>
          </a:p>
        </p:txBody>
      </p:sp>
      <p:sp>
        <p:nvSpPr>
          <p:cNvPr id="3" name="Content Placeholder 2">
            <a:extLst>
              <a:ext uri="{FF2B5EF4-FFF2-40B4-BE49-F238E27FC236}">
                <a16:creationId xmlns:a16="http://schemas.microsoft.com/office/drawing/2014/main" id="{0355E1EC-141D-CA2A-6104-8A240F9A44E1}"/>
              </a:ext>
            </a:extLst>
          </p:cNvPr>
          <p:cNvSpPr>
            <a:spLocks noGrp="1"/>
          </p:cNvSpPr>
          <p:nvPr>
            <p:ph idx="1"/>
          </p:nvPr>
        </p:nvSpPr>
        <p:spPr>
          <a:xfrm>
            <a:off x="144944" y="646044"/>
            <a:ext cx="12047056" cy="6211956"/>
          </a:xfrm>
        </p:spPr>
        <p:txBody>
          <a:bodyPr>
            <a:noAutofit/>
          </a:bodyPr>
          <a:lstStyle/>
          <a:p>
            <a:pPr marL="0" indent="0" algn="l">
              <a:buNone/>
            </a:pPr>
            <a:r>
              <a:rPr lang="en-GB" sz="2400" dirty="0">
                <a:latin typeface="BerkeleyStd-Medium"/>
              </a:rPr>
              <a:t>Next steps is to find granularity - What level of data detail should be made available in </a:t>
            </a:r>
            <a:r>
              <a:rPr lang="en-IN" sz="2400" dirty="0">
                <a:latin typeface="BerkeleyStd-Medium"/>
              </a:rPr>
              <a:t>the dimensional model?</a:t>
            </a:r>
          </a:p>
          <a:p>
            <a:pPr marL="0" indent="0" algn="l">
              <a:buNone/>
            </a:pPr>
            <a:r>
              <a:rPr lang="en-GB" sz="2400" dirty="0">
                <a:latin typeface="BerkeleyStd-Medium"/>
              </a:rPr>
              <a:t>Choice of dimensions is straightforward.</a:t>
            </a:r>
          </a:p>
          <a:p>
            <a:pPr marL="0" indent="0" algn="l">
              <a:buNone/>
            </a:pPr>
            <a:r>
              <a:rPr lang="en-GB" sz="2400" dirty="0">
                <a:latin typeface="BerkeleyStd-Medium"/>
              </a:rPr>
              <a:t>A careful grain statement determines the primary dimensionality of the fact table. </a:t>
            </a:r>
          </a:p>
          <a:p>
            <a:pPr marL="0" indent="0" algn="l">
              <a:buNone/>
            </a:pPr>
            <a:endParaRPr lang="en-GB" sz="2400" dirty="0">
              <a:latin typeface="BerkeleyStd-Medium"/>
            </a:endParaRPr>
          </a:p>
          <a:p>
            <a:pPr marL="0" indent="0" algn="l">
              <a:buNone/>
            </a:pPr>
            <a:r>
              <a:rPr lang="en-GB" sz="2400" dirty="0">
                <a:latin typeface="BerkeleyStd-Medium"/>
              </a:rPr>
              <a:t>We can add more dimensions to the fact table if these additional dimensions naturally take on only one value under each combination of the primary dimensions. </a:t>
            </a:r>
          </a:p>
          <a:p>
            <a:pPr marL="0" indent="0" algn="l">
              <a:buNone/>
            </a:pPr>
            <a:endParaRPr lang="en-GB" sz="2400" dirty="0">
              <a:latin typeface="BerkeleyStd-Medium"/>
            </a:endParaRPr>
          </a:p>
          <a:p>
            <a:pPr marL="0" indent="0" algn="l">
              <a:buNone/>
            </a:pPr>
            <a:r>
              <a:rPr lang="en-GB" sz="2400" dirty="0">
                <a:latin typeface="BerkeleyStd-Medium"/>
              </a:rPr>
              <a:t>If the additional dimension violates the grain by causing additional fact rows to be generated, the dimension needs to be disqualified or the grain statement </a:t>
            </a:r>
            <a:r>
              <a:rPr lang="en-IN" sz="2400" dirty="0">
                <a:latin typeface="BerkeleyStd-Medium"/>
              </a:rPr>
              <a:t>needs to be revisited.</a:t>
            </a:r>
          </a:p>
          <a:p>
            <a:pPr marL="0" indent="0" algn="l">
              <a:buNone/>
            </a:pPr>
            <a:endParaRPr lang="en-IN" sz="2400" dirty="0">
              <a:latin typeface="BerkeleyStd-Medium"/>
            </a:endParaRPr>
          </a:p>
          <a:p>
            <a:pPr marL="0" indent="0" algn="l">
              <a:buNone/>
            </a:pPr>
            <a:r>
              <a:rPr lang="en-IN" sz="2400" dirty="0">
                <a:latin typeface="BerkeleyStd-Medium"/>
              </a:rPr>
              <a:t>We can special dimensions in certain cases like POS Transaction ID.</a:t>
            </a:r>
            <a:endParaRPr lang="en-GB" sz="2400" dirty="0">
              <a:latin typeface="BerkeleyStd-Medium"/>
            </a:endParaRPr>
          </a:p>
        </p:txBody>
      </p:sp>
    </p:spTree>
    <p:extLst>
      <p:ext uri="{BB962C8B-B14F-4D97-AF65-F5344CB8AC3E}">
        <p14:creationId xmlns:p14="http://schemas.microsoft.com/office/powerpoint/2010/main" val="2769337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B0A17-DB7E-887E-AE90-2104DBDBBF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B5C4E-5279-402C-EB2F-A1F027F779D9}"/>
              </a:ext>
            </a:extLst>
          </p:cNvPr>
          <p:cNvSpPr>
            <a:spLocks noGrp="1"/>
          </p:cNvSpPr>
          <p:nvPr>
            <p:ph type="title"/>
          </p:nvPr>
        </p:nvSpPr>
        <p:spPr>
          <a:xfrm>
            <a:off x="738809" y="116648"/>
            <a:ext cx="10104782" cy="668544"/>
          </a:xfrm>
        </p:spPr>
        <p:txBody>
          <a:bodyPr vert="horz" lIns="91440" tIns="45720" rIns="91440" bIns="45720" rtlCol="0" anchor="ctr">
            <a:normAutofit/>
          </a:bodyPr>
          <a:lstStyle/>
          <a:p>
            <a:pPr algn="ctr"/>
            <a:r>
              <a:rPr lang="en-IN" sz="3200" dirty="0">
                <a:latin typeface="StoneSansStd-Medium"/>
              </a:rPr>
              <a:t>Retail Case Study - </a:t>
            </a:r>
            <a:r>
              <a:rPr lang="en-GB" sz="3200" dirty="0">
                <a:latin typeface="StoneSansStd-Medium"/>
              </a:rPr>
              <a:t>Step 4: Identify Facts</a:t>
            </a:r>
            <a:endParaRPr lang="en-IN" sz="3200" dirty="0">
              <a:latin typeface="StoneSansStd-Medium"/>
            </a:endParaRPr>
          </a:p>
        </p:txBody>
      </p:sp>
      <p:sp>
        <p:nvSpPr>
          <p:cNvPr id="3" name="Content Placeholder 2">
            <a:extLst>
              <a:ext uri="{FF2B5EF4-FFF2-40B4-BE49-F238E27FC236}">
                <a16:creationId xmlns:a16="http://schemas.microsoft.com/office/drawing/2014/main" id="{BA98792F-A466-6C2B-07EB-AAA160638812}"/>
              </a:ext>
            </a:extLst>
          </p:cNvPr>
          <p:cNvSpPr>
            <a:spLocks noGrp="1"/>
          </p:cNvSpPr>
          <p:nvPr>
            <p:ph idx="1"/>
          </p:nvPr>
        </p:nvSpPr>
        <p:spPr>
          <a:xfrm>
            <a:off x="144944" y="646044"/>
            <a:ext cx="12047056" cy="2276060"/>
          </a:xfrm>
        </p:spPr>
        <p:txBody>
          <a:bodyPr>
            <a:noAutofit/>
          </a:bodyPr>
          <a:lstStyle/>
          <a:p>
            <a:pPr marL="0" indent="0" algn="l">
              <a:buNone/>
            </a:pPr>
            <a:r>
              <a:rPr lang="en-GB" sz="2400" dirty="0">
                <a:latin typeface="BerkeleyStd-Medium"/>
              </a:rPr>
              <a:t>The facts must be true to the grain: the individual product line item on the POS transaction.</a:t>
            </a:r>
          </a:p>
          <a:p>
            <a:pPr marL="0" indent="0" algn="l">
              <a:buNone/>
            </a:pPr>
            <a:endParaRPr lang="en-GB" sz="2400" dirty="0">
              <a:latin typeface="BerkeleyStd-Medium"/>
            </a:endParaRPr>
          </a:p>
          <a:p>
            <a:pPr marL="0" indent="0" algn="l">
              <a:buNone/>
            </a:pPr>
            <a:r>
              <a:rPr lang="en-GB" sz="2400" dirty="0">
                <a:latin typeface="BerkeleyStd-Medium"/>
              </a:rPr>
              <a:t>The facts collected by the POS system include the sales quantity (for example, the number of cans of chicken noodle soup), per unit regular, discount, and net paid prices, and extended discount and sales dollar amounts.</a:t>
            </a:r>
          </a:p>
          <a:p>
            <a:pPr marL="0" indent="0" algn="l">
              <a:buNone/>
            </a:pPr>
            <a:r>
              <a:rPr lang="en-IN" sz="2400" dirty="0">
                <a:latin typeface="BerkeleyStd-Medium"/>
              </a:rPr>
              <a:t> </a:t>
            </a:r>
          </a:p>
          <a:p>
            <a:pPr marL="0" indent="0" algn="l">
              <a:buNone/>
            </a:pPr>
            <a:endParaRPr lang="en-GB" sz="2400" dirty="0">
              <a:latin typeface="BerkeleyStd-Medium"/>
            </a:endParaRPr>
          </a:p>
        </p:txBody>
      </p:sp>
      <p:pic>
        <p:nvPicPr>
          <p:cNvPr id="5" name="Picture 4">
            <a:extLst>
              <a:ext uri="{FF2B5EF4-FFF2-40B4-BE49-F238E27FC236}">
                <a16:creationId xmlns:a16="http://schemas.microsoft.com/office/drawing/2014/main" id="{AA49A79D-ED97-4933-33DB-A0E8A87E7E39}"/>
              </a:ext>
            </a:extLst>
          </p:cNvPr>
          <p:cNvPicPr>
            <a:picLocks noChangeAspect="1"/>
          </p:cNvPicPr>
          <p:nvPr/>
        </p:nvPicPr>
        <p:blipFill>
          <a:blip r:embed="rId2"/>
          <a:stretch>
            <a:fillRect/>
          </a:stretch>
        </p:blipFill>
        <p:spPr>
          <a:xfrm>
            <a:off x="1989824" y="2676956"/>
            <a:ext cx="8212351" cy="3966093"/>
          </a:xfrm>
          <a:prstGeom prst="rect">
            <a:avLst/>
          </a:prstGeom>
        </p:spPr>
      </p:pic>
    </p:spTree>
    <p:extLst>
      <p:ext uri="{BB962C8B-B14F-4D97-AF65-F5344CB8AC3E}">
        <p14:creationId xmlns:p14="http://schemas.microsoft.com/office/powerpoint/2010/main" val="1646306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6BAC8-6EB5-5DF9-147C-260C117AE1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894FF-C566-AC85-B37D-AB7FA35F91E2}"/>
              </a:ext>
            </a:extLst>
          </p:cNvPr>
          <p:cNvSpPr>
            <a:spLocks noGrp="1"/>
          </p:cNvSpPr>
          <p:nvPr>
            <p:ph type="title"/>
          </p:nvPr>
        </p:nvSpPr>
        <p:spPr>
          <a:xfrm>
            <a:off x="738809" y="116648"/>
            <a:ext cx="10104782" cy="668544"/>
          </a:xfrm>
        </p:spPr>
        <p:txBody>
          <a:bodyPr vert="horz" lIns="91440" tIns="45720" rIns="91440" bIns="45720" rtlCol="0" anchor="ctr">
            <a:normAutofit/>
          </a:bodyPr>
          <a:lstStyle/>
          <a:p>
            <a:pPr algn="ctr"/>
            <a:r>
              <a:rPr lang="en-IN" sz="3200" dirty="0">
                <a:latin typeface="StoneSansStd-Medium"/>
              </a:rPr>
              <a:t>Retail Case Study – </a:t>
            </a:r>
            <a:r>
              <a:rPr lang="en-GB" sz="3200" dirty="0">
                <a:latin typeface="StoneSansStd-Medium"/>
              </a:rPr>
              <a:t>Derived Facts</a:t>
            </a:r>
            <a:endParaRPr lang="en-IN" sz="3200" dirty="0">
              <a:latin typeface="StoneSansStd-Medium"/>
            </a:endParaRPr>
          </a:p>
        </p:txBody>
      </p:sp>
      <p:sp>
        <p:nvSpPr>
          <p:cNvPr id="3" name="Content Placeholder 2">
            <a:extLst>
              <a:ext uri="{FF2B5EF4-FFF2-40B4-BE49-F238E27FC236}">
                <a16:creationId xmlns:a16="http://schemas.microsoft.com/office/drawing/2014/main" id="{B1A36D85-F994-934A-B3C5-BE474DD1957F}"/>
              </a:ext>
            </a:extLst>
          </p:cNvPr>
          <p:cNvSpPr>
            <a:spLocks noGrp="1"/>
          </p:cNvSpPr>
          <p:nvPr>
            <p:ph idx="1"/>
          </p:nvPr>
        </p:nvSpPr>
        <p:spPr>
          <a:xfrm>
            <a:off x="144943" y="646043"/>
            <a:ext cx="11931099" cy="5794514"/>
          </a:xfrm>
        </p:spPr>
        <p:txBody>
          <a:bodyPr>
            <a:noAutofit/>
          </a:bodyPr>
          <a:lstStyle/>
          <a:p>
            <a:pPr marL="0" indent="0" algn="l">
              <a:buNone/>
            </a:pPr>
            <a:endParaRPr lang="en-GB" sz="2400" dirty="0">
              <a:latin typeface="BerkeleyStd-Medium"/>
            </a:endParaRPr>
          </a:p>
          <a:p>
            <a:pPr marL="0" indent="0" algn="l">
              <a:buNone/>
            </a:pPr>
            <a:r>
              <a:rPr lang="en-GB" sz="2400" dirty="0">
                <a:latin typeface="BerkeleyStd-Medium"/>
              </a:rPr>
              <a:t>Four of the facts, sales quantity and the extended discount, sales, and cost dollar amounts, are beautifully additive across all the dimensions.</a:t>
            </a:r>
          </a:p>
          <a:p>
            <a:pPr marL="0" indent="0" algn="l">
              <a:buNone/>
            </a:pPr>
            <a:endParaRPr lang="en-GB" sz="2400" dirty="0">
              <a:latin typeface="BerkeleyStd-Medium"/>
            </a:endParaRPr>
          </a:p>
          <a:p>
            <a:pPr marL="0" indent="0" algn="l">
              <a:buNone/>
            </a:pPr>
            <a:r>
              <a:rPr lang="en-GB" sz="2400" dirty="0">
                <a:latin typeface="BerkeleyStd-Medium"/>
              </a:rPr>
              <a:t>We can compute the gross profit by subtracting the extended cost dollar amount from the extended sales dollar amount, or revenue.</a:t>
            </a:r>
          </a:p>
          <a:p>
            <a:pPr marL="0" indent="0" algn="l">
              <a:buNone/>
            </a:pPr>
            <a:endParaRPr lang="en-GB" sz="2400" dirty="0">
              <a:latin typeface="BerkeleyStd-Medium"/>
            </a:endParaRPr>
          </a:p>
          <a:p>
            <a:pPr marL="0" indent="0" algn="l">
              <a:buNone/>
            </a:pPr>
            <a:r>
              <a:rPr lang="en-GB" sz="2400" dirty="0">
                <a:latin typeface="BerkeleyStd-Medium"/>
              </a:rPr>
              <a:t>It is suggested to store this calculated column physically. Storing means it will be computed at ETL level.</a:t>
            </a:r>
          </a:p>
          <a:p>
            <a:pPr marL="0" indent="0" algn="l">
              <a:buNone/>
            </a:pPr>
            <a:endParaRPr lang="en-GB" sz="2400" dirty="0">
              <a:latin typeface="BerkeleyStd-Medium"/>
            </a:endParaRPr>
          </a:p>
          <a:p>
            <a:pPr marL="0" indent="0" algn="l">
              <a:buNone/>
            </a:pPr>
            <a:r>
              <a:rPr lang="en-IN" sz="2400" dirty="0">
                <a:latin typeface="BerkeleyStd-Medium"/>
              </a:rPr>
              <a:t> </a:t>
            </a:r>
          </a:p>
          <a:p>
            <a:pPr marL="0" indent="0" algn="l">
              <a:buNone/>
            </a:pPr>
            <a:endParaRPr lang="en-GB" sz="2400" dirty="0">
              <a:latin typeface="BerkeleyStd-Medium"/>
            </a:endParaRPr>
          </a:p>
        </p:txBody>
      </p:sp>
    </p:spTree>
    <p:extLst>
      <p:ext uri="{BB962C8B-B14F-4D97-AF65-F5344CB8AC3E}">
        <p14:creationId xmlns:p14="http://schemas.microsoft.com/office/powerpoint/2010/main" val="1585679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7B1F1-8905-BCA7-0DF2-0BA171055E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FFD5B-E0D8-E35C-1A52-529E4001B15A}"/>
              </a:ext>
            </a:extLst>
          </p:cNvPr>
          <p:cNvSpPr>
            <a:spLocks noGrp="1"/>
          </p:cNvSpPr>
          <p:nvPr>
            <p:ph type="title"/>
          </p:nvPr>
        </p:nvSpPr>
        <p:spPr>
          <a:xfrm>
            <a:off x="738809" y="116648"/>
            <a:ext cx="10104782" cy="668544"/>
          </a:xfrm>
        </p:spPr>
        <p:txBody>
          <a:bodyPr vert="horz" lIns="91440" tIns="45720" rIns="91440" bIns="45720" rtlCol="0" anchor="ctr">
            <a:normAutofit/>
          </a:bodyPr>
          <a:lstStyle/>
          <a:p>
            <a:pPr algn="ctr"/>
            <a:r>
              <a:rPr lang="en-IN" sz="3200" dirty="0">
                <a:latin typeface="StoneSansStd-Medium"/>
              </a:rPr>
              <a:t>Retail Case Study – </a:t>
            </a:r>
            <a:r>
              <a:rPr lang="en-GB" sz="3200" dirty="0">
                <a:latin typeface="StoneSansStd-Medium"/>
              </a:rPr>
              <a:t>Non-Additive Facts</a:t>
            </a:r>
            <a:endParaRPr lang="en-IN" sz="3200" dirty="0">
              <a:latin typeface="StoneSansStd-Medium"/>
            </a:endParaRPr>
          </a:p>
        </p:txBody>
      </p:sp>
      <p:sp>
        <p:nvSpPr>
          <p:cNvPr id="3" name="Content Placeholder 2">
            <a:extLst>
              <a:ext uri="{FF2B5EF4-FFF2-40B4-BE49-F238E27FC236}">
                <a16:creationId xmlns:a16="http://schemas.microsoft.com/office/drawing/2014/main" id="{A6810FE0-B5A1-647B-57B8-2A68410FAAF2}"/>
              </a:ext>
            </a:extLst>
          </p:cNvPr>
          <p:cNvSpPr>
            <a:spLocks noGrp="1"/>
          </p:cNvSpPr>
          <p:nvPr>
            <p:ph idx="1"/>
          </p:nvPr>
        </p:nvSpPr>
        <p:spPr>
          <a:xfrm>
            <a:off x="144943" y="646043"/>
            <a:ext cx="11931099" cy="5794514"/>
          </a:xfrm>
        </p:spPr>
        <p:txBody>
          <a:bodyPr>
            <a:noAutofit/>
          </a:bodyPr>
          <a:lstStyle/>
          <a:p>
            <a:pPr marL="0" indent="0" algn="l">
              <a:buNone/>
            </a:pPr>
            <a:endParaRPr lang="en-GB" sz="2400" dirty="0">
              <a:latin typeface="BerkeleyStd-Medium"/>
            </a:endParaRPr>
          </a:p>
          <a:p>
            <a:pPr marL="0" indent="0" algn="l">
              <a:buNone/>
            </a:pPr>
            <a:r>
              <a:rPr lang="en-GB" sz="2400" dirty="0">
                <a:latin typeface="BerkeleyStd-Medium"/>
              </a:rPr>
              <a:t>Gross margin is a non-additive fact because it can’t be summarized </a:t>
            </a:r>
            <a:r>
              <a:rPr lang="en-IN" sz="2400" dirty="0">
                <a:latin typeface="BerkeleyStd-Medium"/>
              </a:rPr>
              <a:t>along any dimension. </a:t>
            </a:r>
            <a:r>
              <a:rPr lang="en-GB" sz="2400" dirty="0">
                <a:latin typeface="BerkeleyStd-Medium"/>
              </a:rPr>
              <a:t>Gross margin can be calculated by dividing the gross </a:t>
            </a:r>
            <a:r>
              <a:rPr lang="en-GB" sz="2400" dirty="0" err="1">
                <a:latin typeface="BerkeleyStd-Medium"/>
              </a:rPr>
              <a:t>profi</a:t>
            </a:r>
            <a:r>
              <a:rPr lang="en-GB" sz="2400" dirty="0">
                <a:latin typeface="BerkeleyStd-Medium"/>
              </a:rPr>
              <a:t> t by the extended sales </a:t>
            </a:r>
            <a:r>
              <a:rPr lang="en-IN" sz="2400" dirty="0">
                <a:latin typeface="BerkeleyStd-Medium"/>
              </a:rPr>
              <a:t>dollar revenue.</a:t>
            </a:r>
            <a:endParaRPr lang="en-GB" sz="2400" dirty="0">
              <a:latin typeface="BerkeleyStd-Medium"/>
            </a:endParaRPr>
          </a:p>
          <a:p>
            <a:pPr marL="0" indent="0" algn="l">
              <a:buNone/>
            </a:pPr>
            <a:r>
              <a:rPr lang="en-GB" sz="2400" dirty="0">
                <a:latin typeface="BerkeleyStd-Medium"/>
              </a:rPr>
              <a:t> </a:t>
            </a:r>
          </a:p>
          <a:p>
            <a:pPr marL="0" indent="0" algn="l">
              <a:buNone/>
            </a:pPr>
            <a:endParaRPr lang="en-GB" sz="2400" dirty="0">
              <a:latin typeface="BerkeleyStd-Medium"/>
            </a:endParaRPr>
          </a:p>
          <a:p>
            <a:pPr marL="0" indent="0" algn="l">
              <a:buNone/>
            </a:pPr>
            <a:r>
              <a:rPr lang="en-GB" sz="2400" dirty="0">
                <a:latin typeface="BerkeleyStd-Medium"/>
              </a:rPr>
              <a:t>Unit price is another non-additive fact. Unlike the extended amounts in the fact table, summing unit price across any of the dimensions results in a meaningless, </a:t>
            </a:r>
            <a:r>
              <a:rPr lang="en-IN" sz="2400" dirty="0">
                <a:latin typeface="BerkeleyStd-Medium"/>
              </a:rPr>
              <a:t>nonsensical number.</a:t>
            </a:r>
            <a:endParaRPr lang="en-GB" sz="2400" dirty="0">
              <a:latin typeface="BerkeleyStd-Medium"/>
            </a:endParaRPr>
          </a:p>
          <a:p>
            <a:pPr marL="0" indent="0" algn="l">
              <a:buNone/>
            </a:pPr>
            <a:r>
              <a:rPr lang="en-IN" sz="2400" dirty="0">
                <a:latin typeface="BerkeleyStd-Medium"/>
              </a:rPr>
              <a:t> </a:t>
            </a:r>
          </a:p>
          <a:p>
            <a:pPr marL="0" indent="0" algn="l">
              <a:buNone/>
            </a:pPr>
            <a:endParaRPr lang="en-GB" sz="2400" dirty="0">
              <a:latin typeface="BerkeleyStd-Medium"/>
            </a:endParaRPr>
          </a:p>
        </p:txBody>
      </p:sp>
    </p:spTree>
    <p:extLst>
      <p:ext uri="{BB962C8B-B14F-4D97-AF65-F5344CB8AC3E}">
        <p14:creationId xmlns:p14="http://schemas.microsoft.com/office/powerpoint/2010/main" val="1005929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8C7B7-631A-92ED-A656-56C4F37875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BA99A-85ED-F1A7-F430-1506D0B247C1}"/>
              </a:ext>
            </a:extLst>
          </p:cNvPr>
          <p:cNvSpPr>
            <a:spLocks noGrp="1"/>
          </p:cNvSpPr>
          <p:nvPr>
            <p:ph type="title"/>
          </p:nvPr>
        </p:nvSpPr>
        <p:spPr>
          <a:xfrm>
            <a:off x="738809" y="116648"/>
            <a:ext cx="10104782" cy="668544"/>
          </a:xfrm>
        </p:spPr>
        <p:txBody>
          <a:bodyPr vert="horz" lIns="91440" tIns="45720" rIns="91440" bIns="45720" rtlCol="0" anchor="ctr">
            <a:normAutofit/>
          </a:bodyPr>
          <a:lstStyle/>
          <a:p>
            <a:pPr algn="ctr"/>
            <a:r>
              <a:rPr lang="en-IN" sz="3200" dirty="0">
                <a:latin typeface="StoneSansStd-Medium"/>
              </a:rPr>
              <a:t>Retail Case Study – </a:t>
            </a:r>
            <a:r>
              <a:rPr lang="en-GB" sz="3200" dirty="0">
                <a:latin typeface="StoneSansStd-Medium"/>
              </a:rPr>
              <a:t>Transaction Facts</a:t>
            </a:r>
            <a:endParaRPr lang="en-IN" sz="3200" dirty="0">
              <a:latin typeface="StoneSansStd-Medium"/>
            </a:endParaRPr>
          </a:p>
        </p:txBody>
      </p:sp>
      <p:sp>
        <p:nvSpPr>
          <p:cNvPr id="3" name="Content Placeholder 2">
            <a:extLst>
              <a:ext uri="{FF2B5EF4-FFF2-40B4-BE49-F238E27FC236}">
                <a16:creationId xmlns:a16="http://schemas.microsoft.com/office/drawing/2014/main" id="{6AB4F2BD-07C4-92B2-9A1F-2CB4D8FC47C6}"/>
              </a:ext>
            </a:extLst>
          </p:cNvPr>
          <p:cNvSpPr>
            <a:spLocks noGrp="1"/>
          </p:cNvSpPr>
          <p:nvPr>
            <p:ph idx="1"/>
          </p:nvPr>
        </p:nvSpPr>
        <p:spPr>
          <a:xfrm>
            <a:off x="144943" y="646043"/>
            <a:ext cx="11931099" cy="5794514"/>
          </a:xfrm>
        </p:spPr>
        <p:txBody>
          <a:bodyPr>
            <a:noAutofit/>
          </a:bodyPr>
          <a:lstStyle/>
          <a:p>
            <a:pPr marL="0" indent="0" algn="l">
              <a:buNone/>
            </a:pPr>
            <a:r>
              <a:rPr lang="en-GB" sz="2400" dirty="0">
                <a:latin typeface="BerkeleyStd-Medium"/>
              </a:rPr>
              <a:t>Transactional business processes are the most common.</a:t>
            </a:r>
          </a:p>
          <a:p>
            <a:pPr marL="0" indent="0" algn="l">
              <a:buNone/>
            </a:pPr>
            <a:r>
              <a:rPr lang="en-GB" sz="2400" dirty="0">
                <a:latin typeface="BerkeleyStd-Medium"/>
              </a:rPr>
              <a:t>The grain of atomic transaction fact tables can be succinctly expressed in the context of the transaction, such as one row per transaction or one row per </a:t>
            </a:r>
            <a:r>
              <a:rPr lang="en-IN" sz="2400" dirty="0">
                <a:latin typeface="BerkeleyStd-Medium"/>
              </a:rPr>
              <a:t>transaction line.</a:t>
            </a:r>
          </a:p>
          <a:p>
            <a:pPr marL="0" indent="0" algn="l">
              <a:buNone/>
            </a:pPr>
            <a:r>
              <a:rPr lang="en-GB" sz="2400" dirty="0">
                <a:latin typeface="BerkeleyStd-Medium"/>
              </a:rPr>
              <a:t>Because these fact tables record a transactional event, they are often sparsely populated. In our case study, we certainly wouldn’t sell every product in </a:t>
            </a:r>
            <a:r>
              <a:rPr lang="en-IN" sz="2400" dirty="0">
                <a:latin typeface="BerkeleyStd-Medium"/>
              </a:rPr>
              <a:t>every shopping cart.</a:t>
            </a:r>
          </a:p>
          <a:p>
            <a:pPr marL="0" indent="0" algn="l">
              <a:buNone/>
            </a:pPr>
            <a:r>
              <a:rPr lang="en-GB" sz="2400" dirty="0">
                <a:latin typeface="BerkeleyStd-Medium"/>
              </a:rPr>
              <a:t>Even though transaction fact tables are unpredictably and sparsely populated, they can be truly enormous. Most billion and trillion row tables in a data warehouse are transaction fact tables.</a:t>
            </a:r>
          </a:p>
          <a:p>
            <a:pPr marL="0" indent="0" algn="l">
              <a:buNone/>
            </a:pPr>
            <a:r>
              <a:rPr lang="en-GB" sz="2400" dirty="0">
                <a:latin typeface="BerkeleyStd-Medium"/>
              </a:rPr>
              <a:t>Transaction fact tables tend to be highly dimensional.</a:t>
            </a:r>
          </a:p>
          <a:p>
            <a:pPr marL="0" indent="0" algn="l">
              <a:buNone/>
            </a:pPr>
            <a:r>
              <a:rPr lang="en-GB" sz="2400" dirty="0">
                <a:latin typeface="BerkeleyStd-Medium"/>
              </a:rPr>
              <a:t>The metrics resulting from transactional events are typically additive as long as they have been extended by the quantity amount, rather than capturing </a:t>
            </a:r>
            <a:r>
              <a:rPr lang="en-IN" sz="2400" dirty="0">
                <a:latin typeface="BerkeleyStd-Medium"/>
              </a:rPr>
              <a:t>per unit metrics.</a:t>
            </a:r>
            <a:endParaRPr lang="en-GB" sz="2400" dirty="0">
              <a:latin typeface="BerkeleyStd-Medium"/>
            </a:endParaRPr>
          </a:p>
          <a:p>
            <a:pPr marL="0" indent="0" algn="l">
              <a:buNone/>
            </a:pPr>
            <a:endParaRPr lang="en-IN" sz="2400" dirty="0">
              <a:latin typeface="BerkeleyStd-Medium"/>
            </a:endParaRPr>
          </a:p>
          <a:p>
            <a:pPr marL="0" indent="0" algn="l">
              <a:buNone/>
            </a:pPr>
            <a:endParaRPr lang="en-GB" sz="2400" dirty="0">
              <a:latin typeface="BerkeleyStd-Medium"/>
            </a:endParaRPr>
          </a:p>
        </p:txBody>
      </p:sp>
    </p:spTree>
    <p:extLst>
      <p:ext uri="{BB962C8B-B14F-4D97-AF65-F5344CB8AC3E}">
        <p14:creationId xmlns:p14="http://schemas.microsoft.com/office/powerpoint/2010/main" val="2585190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EE22A-A9FE-7C84-9D97-0F6C772BE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94669-F7AB-CE84-5B62-AEE947635880}"/>
              </a:ext>
            </a:extLst>
          </p:cNvPr>
          <p:cNvSpPr>
            <a:spLocks noGrp="1"/>
          </p:cNvSpPr>
          <p:nvPr>
            <p:ph type="title"/>
          </p:nvPr>
        </p:nvSpPr>
        <p:spPr>
          <a:xfrm>
            <a:off x="738809" y="116648"/>
            <a:ext cx="10104782" cy="668544"/>
          </a:xfrm>
        </p:spPr>
        <p:txBody>
          <a:bodyPr vert="horz" lIns="91440" tIns="45720" rIns="91440" bIns="45720" rtlCol="0" anchor="ctr">
            <a:normAutofit/>
          </a:bodyPr>
          <a:lstStyle/>
          <a:p>
            <a:pPr algn="ctr"/>
            <a:r>
              <a:rPr lang="en-IN" sz="3200" dirty="0">
                <a:latin typeface="StoneSansStd-Medium"/>
              </a:rPr>
              <a:t>Retail Case Study – Date </a:t>
            </a:r>
            <a:r>
              <a:rPr lang="en-GB" sz="3200" dirty="0">
                <a:latin typeface="StoneSansStd-Medium"/>
              </a:rPr>
              <a:t>Dimension</a:t>
            </a:r>
            <a:endParaRPr lang="en-IN" sz="3200" dirty="0">
              <a:latin typeface="StoneSansStd-Medium"/>
            </a:endParaRPr>
          </a:p>
        </p:txBody>
      </p:sp>
      <p:sp>
        <p:nvSpPr>
          <p:cNvPr id="3" name="Content Placeholder 2">
            <a:extLst>
              <a:ext uri="{FF2B5EF4-FFF2-40B4-BE49-F238E27FC236}">
                <a16:creationId xmlns:a16="http://schemas.microsoft.com/office/drawing/2014/main" id="{63075CD8-AA7E-8F32-1259-2623CE59159D}"/>
              </a:ext>
            </a:extLst>
          </p:cNvPr>
          <p:cNvSpPr>
            <a:spLocks noGrp="1"/>
          </p:cNvSpPr>
          <p:nvPr>
            <p:ph idx="1"/>
          </p:nvPr>
        </p:nvSpPr>
        <p:spPr>
          <a:xfrm>
            <a:off x="144943" y="675861"/>
            <a:ext cx="8922436" cy="3508513"/>
          </a:xfrm>
        </p:spPr>
        <p:txBody>
          <a:bodyPr>
            <a:noAutofit/>
          </a:bodyPr>
          <a:lstStyle/>
          <a:p>
            <a:pPr marL="0" indent="0" algn="l">
              <a:buNone/>
            </a:pPr>
            <a:r>
              <a:rPr lang="en-GB" sz="2400" dirty="0">
                <a:latin typeface="BerkeleyStd-Medium"/>
              </a:rPr>
              <a:t>The date dimension is a special dimension as it is the one dimension nearly guaranteed to be in every dimensional model since virtually every business process captures a time series of performance metrics. </a:t>
            </a:r>
          </a:p>
          <a:p>
            <a:pPr marL="0" indent="0" algn="l">
              <a:buNone/>
            </a:pPr>
            <a:r>
              <a:rPr lang="en-GB" sz="2400" dirty="0">
                <a:latin typeface="BerkeleyStd-Medium"/>
              </a:rPr>
              <a:t>In fact, date is usually the first dimension in the underlying partitioning scheme of the database</a:t>
            </a:r>
          </a:p>
          <a:p>
            <a:pPr marL="0" indent="0" algn="l">
              <a:buNone/>
            </a:pPr>
            <a:r>
              <a:rPr lang="en-GB" sz="2400" dirty="0">
                <a:latin typeface="BerkeleyStd-Medium"/>
              </a:rPr>
              <a:t>You may put 10 or 20 years of rows representing individual days in the table, so that it can cover the history as well as several years in the future.</a:t>
            </a:r>
          </a:p>
          <a:p>
            <a:pPr marL="0" indent="0" algn="l">
              <a:buNone/>
            </a:pPr>
            <a:r>
              <a:rPr lang="en-GB" sz="2400" dirty="0">
                <a:latin typeface="BerkeleyStd-Medium"/>
              </a:rPr>
              <a:t>Even 20 years’ worth of days is only approximately 7,300 rows</a:t>
            </a:r>
          </a:p>
          <a:p>
            <a:pPr marL="0" indent="0" algn="l">
              <a:buNone/>
            </a:pPr>
            <a:r>
              <a:rPr lang="en-GB" sz="2400" dirty="0">
                <a:latin typeface="BerkeleyStd-Medium"/>
              </a:rPr>
              <a:t> </a:t>
            </a:r>
          </a:p>
        </p:txBody>
      </p:sp>
      <p:pic>
        <p:nvPicPr>
          <p:cNvPr id="5" name="Picture 4">
            <a:extLst>
              <a:ext uri="{FF2B5EF4-FFF2-40B4-BE49-F238E27FC236}">
                <a16:creationId xmlns:a16="http://schemas.microsoft.com/office/drawing/2014/main" id="{D77AB21A-1767-F33D-1A15-08E5B7378254}"/>
              </a:ext>
            </a:extLst>
          </p:cNvPr>
          <p:cNvPicPr>
            <a:picLocks noChangeAspect="1"/>
          </p:cNvPicPr>
          <p:nvPr/>
        </p:nvPicPr>
        <p:blipFill>
          <a:blip r:embed="rId2"/>
          <a:stretch>
            <a:fillRect/>
          </a:stretch>
        </p:blipFill>
        <p:spPr>
          <a:xfrm>
            <a:off x="9067379" y="548093"/>
            <a:ext cx="2979678" cy="6309907"/>
          </a:xfrm>
          <a:prstGeom prst="rect">
            <a:avLst/>
          </a:prstGeom>
        </p:spPr>
      </p:pic>
      <p:pic>
        <p:nvPicPr>
          <p:cNvPr id="7" name="Picture 6">
            <a:extLst>
              <a:ext uri="{FF2B5EF4-FFF2-40B4-BE49-F238E27FC236}">
                <a16:creationId xmlns:a16="http://schemas.microsoft.com/office/drawing/2014/main" id="{7B5DBBBE-13D8-3F75-0723-3A23864C2B51}"/>
              </a:ext>
            </a:extLst>
          </p:cNvPr>
          <p:cNvPicPr>
            <a:picLocks noChangeAspect="1"/>
          </p:cNvPicPr>
          <p:nvPr/>
        </p:nvPicPr>
        <p:blipFill>
          <a:blip r:embed="rId3"/>
          <a:stretch>
            <a:fillRect/>
          </a:stretch>
        </p:blipFill>
        <p:spPr>
          <a:xfrm>
            <a:off x="370279" y="4184373"/>
            <a:ext cx="8486866" cy="2385391"/>
          </a:xfrm>
          <a:prstGeom prst="rect">
            <a:avLst/>
          </a:prstGeom>
        </p:spPr>
      </p:pic>
    </p:spTree>
    <p:extLst>
      <p:ext uri="{BB962C8B-B14F-4D97-AF65-F5344CB8AC3E}">
        <p14:creationId xmlns:p14="http://schemas.microsoft.com/office/powerpoint/2010/main" val="938545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ABBFA-C289-5D8E-75DD-12AA6A445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8713C1-133C-883A-D8CE-B34DD38522C3}"/>
              </a:ext>
            </a:extLst>
          </p:cNvPr>
          <p:cNvSpPr>
            <a:spLocks noGrp="1"/>
          </p:cNvSpPr>
          <p:nvPr>
            <p:ph type="title"/>
          </p:nvPr>
        </p:nvSpPr>
        <p:spPr>
          <a:xfrm>
            <a:off x="0" y="116648"/>
            <a:ext cx="12047057" cy="668544"/>
          </a:xfrm>
        </p:spPr>
        <p:txBody>
          <a:bodyPr vert="horz" lIns="91440" tIns="45720" rIns="91440" bIns="45720" rtlCol="0" anchor="ctr">
            <a:normAutofit fontScale="90000"/>
          </a:bodyPr>
          <a:lstStyle/>
          <a:p>
            <a:pPr algn="ctr"/>
            <a:r>
              <a:rPr lang="en-IN" sz="3200" dirty="0">
                <a:latin typeface="StoneSansStd-Medium"/>
              </a:rPr>
              <a:t>Retail Case Study – Date Dimensions - </a:t>
            </a:r>
            <a:r>
              <a:rPr lang="en-GB" sz="3200" dirty="0">
                <a:latin typeface="StoneSansStd-Medium"/>
              </a:rPr>
              <a:t>Flags and Indicators as Textual Attributes</a:t>
            </a:r>
            <a:endParaRPr lang="en-IN" sz="3200" dirty="0">
              <a:latin typeface="StoneSansStd-Medium"/>
            </a:endParaRPr>
          </a:p>
        </p:txBody>
      </p:sp>
      <p:sp>
        <p:nvSpPr>
          <p:cNvPr id="3" name="Content Placeholder 2">
            <a:extLst>
              <a:ext uri="{FF2B5EF4-FFF2-40B4-BE49-F238E27FC236}">
                <a16:creationId xmlns:a16="http://schemas.microsoft.com/office/drawing/2014/main" id="{C078B79F-26C4-15DC-7717-668C15750608}"/>
              </a:ext>
            </a:extLst>
          </p:cNvPr>
          <p:cNvSpPr>
            <a:spLocks noGrp="1"/>
          </p:cNvSpPr>
          <p:nvPr>
            <p:ph idx="1"/>
          </p:nvPr>
        </p:nvSpPr>
        <p:spPr>
          <a:xfrm>
            <a:off x="212034" y="785192"/>
            <a:ext cx="11734801" cy="3160643"/>
          </a:xfrm>
        </p:spPr>
        <p:txBody>
          <a:bodyPr>
            <a:noAutofit/>
          </a:bodyPr>
          <a:lstStyle/>
          <a:p>
            <a:pPr marL="0" indent="0" algn="l">
              <a:buNone/>
            </a:pPr>
            <a:r>
              <a:rPr lang="en-GB" sz="2400" dirty="0">
                <a:latin typeface="BerkeleyStd-Medium"/>
              </a:rPr>
              <a:t>Like many operational flags and indicators, the date dimension’s holiday indicator is a simple indicator with two potential values. </a:t>
            </a:r>
          </a:p>
          <a:p>
            <a:pPr marL="0" indent="0" algn="l">
              <a:buNone/>
            </a:pPr>
            <a:r>
              <a:rPr lang="en-GB" sz="2400" dirty="0">
                <a:latin typeface="BerkeleyStd-Medium"/>
              </a:rPr>
              <a:t>Because dimension table attributes serve as report labels and values in pull-down query filter lists, this indicator should be populated with meaningful values such as Holiday or Non-holiday.</a:t>
            </a:r>
          </a:p>
          <a:p>
            <a:pPr marL="0" indent="0">
              <a:buNone/>
            </a:pPr>
            <a:r>
              <a:rPr lang="en-GB" sz="2400" b="0" i="0" u="none" strike="noStrike" baseline="0" dirty="0">
                <a:latin typeface="BerkeleyStd-Medium"/>
              </a:rPr>
              <a:t>A similar argument holds true for the weekday indicator that would have a value </a:t>
            </a:r>
            <a:r>
              <a:rPr lang="en-IN" sz="2400" b="0" i="0" u="none" strike="noStrike" baseline="0" dirty="0">
                <a:latin typeface="BerkeleyStd-Medium"/>
              </a:rPr>
              <a:t>of Weekday or Weekend.</a:t>
            </a:r>
            <a:endParaRPr lang="en-GB" sz="3200" dirty="0">
              <a:latin typeface="BerkeleyStd-Medium"/>
            </a:endParaRPr>
          </a:p>
          <a:p>
            <a:pPr marL="0" indent="0" algn="l">
              <a:buNone/>
            </a:pPr>
            <a:r>
              <a:rPr lang="en-IN" sz="2400" dirty="0">
                <a:latin typeface="BerkeleyStd-Medium"/>
              </a:rPr>
              <a:t>Imagine a report </a:t>
            </a:r>
            <a:r>
              <a:rPr lang="en-GB" sz="2400" dirty="0">
                <a:latin typeface="BerkeleyStd-Medium"/>
              </a:rPr>
              <a:t>comparing holiday versus non-holiday sales for a product.</a:t>
            </a:r>
          </a:p>
        </p:txBody>
      </p:sp>
      <p:pic>
        <p:nvPicPr>
          <p:cNvPr id="6" name="Picture 5">
            <a:extLst>
              <a:ext uri="{FF2B5EF4-FFF2-40B4-BE49-F238E27FC236}">
                <a16:creationId xmlns:a16="http://schemas.microsoft.com/office/drawing/2014/main" id="{0D5790C3-63FD-27DF-2A08-C94364FAC9CF}"/>
              </a:ext>
            </a:extLst>
          </p:cNvPr>
          <p:cNvPicPr>
            <a:picLocks noChangeAspect="1"/>
          </p:cNvPicPr>
          <p:nvPr/>
        </p:nvPicPr>
        <p:blipFill>
          <a:blip r:embed="rId2"/>
          <a:stretch>
            <a:fillRect/>
          </a:stretch>
        </p:blipFill>
        <p:spPr>
          <a:xfrm>
            <a:off x="1447382" y="4027969"/>
            <a:ext cx="9754438" cy="2713383"/>
          </a:xfrm>
          <a:prstGeom prst="rect">
            <a:avLst/>
          </a:prstGeom>
        </p:spPr>
      </p:pic>
    </p:spTree>
    <p:extLst>
      <p:ext uri="{BB962C8B-B14F-4D97-AF65-F5344CB8AC3E}">
        <p14:creationId xmlns:p14="http://schemas.microsoft.com/office/powerpoint/2010/main" val="478380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0B621-7301-89F2-2002-6E255667C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A33F16-8EFB-6AE9-FAFB-DE9F583B0CA0}"/>
              </a:ext>
            </a:extLst>
          </p:cNvPr>
          <p:cNvSpPr>
            <a:spLocks noGrp="1"/>
          </p:cNvSpPr>
          <p:nvPr>
            <p:ph type="title"/>
          </p:nvPr>
        </p:nvSpPr>
        <p:spPr>
          <a:xfrm>
            <a:off x="0" y="116648"/>
            <a:ext cx="12047057" cy="668544"/>
          </a:xfrm>
        </p:spPr>
        <p:txBody>
          <a:bodyPr vert="horz" lIns="91440" tIns="45720" rIns="91440" bIns="45720" rtlCol="0" anchor="ctr">
            <a:normAutofit/>
          </a:bodyPr>
          <a:lstStyle/>
          <a:p>
            <a:pPr algn="ctr"/>
            <a:r>
              <a:rPr lang="en-IN" sz="3200" dirty="0">
                <a:latin typeface="StoneSansStd-Medium"/>
              </a:rPr>
              <a:t>Retail Case Study – Date Dimensions - </a:t>
            </a:r>
            <a:r>
              <a:rPr lang="en-IN" sz="1800" b="0" i="1" u="none" strike="noStrike" baseline="0" dirty="0">
                <a:latin typeface="StoneSansStd-MediumItalic"/>
              </a:rPr>
              <a:t>Current and Relative Date Attributes</a:t>
            </a:r>
            <a:endParaRPr lang="en-IN" sz="3200" dirty="0">
              <a:latin typeface="StoneSansStd-Medium"/>
            </a:endParaRPr>
          </a:p>
        </p:txBody>
      </p:sp>
      <p:sp>
        <p:nvSpPr>
          <p:cNvPr id="3" name="Content Placeholder 2">
            <a:extLst>
              <a:ext uri="{FF2B5EF4-FFF2-40B4-BE49-F238E27FC236}">
                <a16:creationId xmlns:a16="http://schemas.microsoft.com/office/drawing/2014/main" id="{0D4C69FE-6900-5EC3-F212-B870BDD39BAF}"/>
              </a:ext>
            </a:extLst>
          </p:cNvPr>
          <p:cNvSpPr>
            <a:spLocks noGrp="1"/>
          </p:cNvSpPr>
          <p:nvPr>
            <p:ph idx="1"/>
          </p:nvPr>
        </p:nvSpPr>
        <p:spPr>
          <a:xfrm>
            <a:off x="212034" y="785192"/>
            <a:ext cx="11734801" cy="3160643"/>
          </a:xfrm>
        </p:spPr>
        <p:txBody>
          <a:bodyPr>
            <a:noAutofit/>
          </a:bodyPr>
          <a:lstStyle/>
          <a:p>
            <a:pPr marL="0" indent="0" algn="l">
              <a:buNone/>
            </a:pPr>
            <a:r>
              <a:rPr lang="en-GB" sz="2400" dirty="0">
                <a:latin typeface="BerkeleyStd-Medium"/>
              </a:rPr>
              <a:t>Most date dimension attributes are not subject to updates</a:t>
            </a:r>
          </a:p>
          <a:p>
            <a:pPr marL="0" indent="0" algn="l">
              <a:buNone/>
            </a:pPr>
            <a:r>
              <a:rPr lang="en-GB" sz="2400" dirty="0">
                <a:latin typeface="BerkeleyStd-Medium"/>
              </a:rPr>
              <a:t>However, there are attributes you can add to the basic date dimension that will change over time, including </a:t>
            </a:r>
            <a:r>
              <a:rPr lang="en-GB" sz="2400" dirty="0" err="1">
                <a:latin typeface="BerkeleyStd-Medium"/>
              </a:rPr>
              <a:t>IsCurrentDay</a:t>
            </a:r>
            <a:r>
              <a:rPr lang="en-GB" sz="2400" dirty="0">
                <a:latin typeface="BerkeleyStd-Medium"/>
              </a:rPr>
              <a:t>, </a:t>
            </a:r>
            <a:r>
              <a:rPr lang="en-GB" sz="2400" dirty="0" err="1">
                <a:latin typeface="BerkeleyStd-Medium"/>
              </a:rPr>
              <a:t>IsCurrentMonth</a:t>
            </a:r>
            <a:r>
              <a:rPr lang="en-GB" sz="2400" dirty="0">
                <a:latin typeface="BerkeleyStd-Medium"/>
              </a:rPr>
              <a:t>, IsPrior60Days, and so on. </a:t>
            </a:r>
          </a:p>
          <a:p>
            <a:pPr marL="0" indent="0" algn="l">
              <a:buNone/>
            </a:pPr>
            <a:r>
              <a:rPr lang="en-GB" sz="2400" dirty="0" err="1">
                <a:latin typeface="BerkeleyStd-Medium"/>
              </a:rPr>
              <a:t>IsCurrentDay</a:t>
            </a:r>
            <a:r>
              <a:rPr lang="en-GB" sz="2400" dirty="0">
                <a:latin typeface="BerkeleyStd-Medium"/>
              </a:rPr>
              <a:t> obviously must be updated each day; the attribute is useful for generating reports that always run for today.</a:t>
            </a:r>
          </a:p>
          <a:p>
            <a:pPr marL="0" indent="0" algn="l">
              <a:buNone/>
            </a:pPr>
            <a:r>
              <a:rPr lang="en-GB" sz="2400" dirty="0">
                <a:latin typeface="BerkeleyStd-Medium"/>
              </a:rPr>
              <a:t>Some date dimensions include updated lag attributes. The lag day column would take the value 0 for today, –1 for yesterday, +1 for tomorrow, and so on.</a:t>
            </a:r>
          </a:p>
          <a:p>
            <a:pPr marL="0" indent="0" algn="l">
              <a:buNone/>
            </a:pPr>
            <a:r>
              <a:rPr lang="en-GB" sz="2400" dirty="0">
                <a:latin typeface="BerkeleyStd-Medium"/>
              </a:rPr>
              <a:t>Like many operational flags and indicators, the date dimension’s holiday indicator is a simple indicator with two potential values. </a:t>
            </a:r>
          </a:p>
          <a:p>
            <a:pPr marL="0" indent="0" algn="l">
              <a:buNone/>
            </a:pPr>
            <a:r>
              <a:rPr lang="en-GB" sz="2400" dirty="0">
                <a:latin typeface="BerkeleyStd-Medium"/>
              </a:rPr>
              <a:t>Because dimension table attributes serve as report labels and values in pull-down query filter lists, this indicator should be populated with meaningful values such as Holiday or Non-holiday.</a:t>
            </a:r>
          </a:p>
          <a:p>
            <a:pPr marL="0" indent="0">
              <a:buNone/>
            </a:pPr>
            <a:r>
              <a:rPr lang="en-GB" sz="2400" b="0" i="0" u="none" strike="noStrike" baseline="0" dirty="0">
                <a:latin typeface="BerkeleyStd-Medium"/>
              </a:rPr>
              <a:t>A similar argument holds true for the weekday indicator that would have a value </a:t>
            </a:r>
            <a:r>
              <a:rPr lang="en-IN" sz="2400" b="0" i="0" u="none" strike="noStrike" baseline="0" dirty="0">
                <a:latin typeface="BerkeleyStd-Medium"/>
              </a:rPr>
              <a:t>of Weekday or Weekend.</a:t>
            </a:r>
            <a:endParaRPr lang="en-GB" sz="3200" dirty="0">
              <a:latin typeface="BerkeleyStd-Medium"/>
            </a:endParaRPr>
          </a:p>
          <a:p>
            <a:pPr marL="0" indent="0" algn="l">
              <a:buNone/>
            </a:pPr>
            <a:r>
              <a:rPr lang="en-IN" sz="2400" dirty="0">
                <a:latin typeface="BerkeleyStd-Medium"/>
              </a:rPr>
              <a:t>Imagine a report </a:t>
            </a:r>
            <a:r>
              <a:rPr lang="en-GB" sz="2400" dirty="0">
                <a:latin typeface="BerkeleyStd-Medium"/>
              </a:rPr>
              <a:t>comparing holiday versus non-holiday sales for a product.</a:t>
            </a:r>
          </a:p>
        </p:txBody>
      </p:sp>
    </p:spTree>
    <p:extLst>
      <p:ext uri="{BB962C8B-B14F-4D97-AF65-F5344CB8AC3E}">
        <p14:creationId xmlns:p14="http://schemas.microsoft.com/office/powerpoint/2010/main" val="2321800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82384-9F4B-D202-EB15-CBB7791EF6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2E13C3-EFFA-6193-BFE0-D5D47A38E882}"/>
              </a:ext>
            </a:extLst>
          </p:cNvPr>
          <p:cNvSpPr>
            <a:spLocks noGrp="1"/>
          </p:cNvSpPr>
          <p:nvPr>
            <p:ph type="title"/>
          </p:nvPr>
        </p:nvSpPr>
        <p:spPr>
          <a:xfrm>
            <a:off x="0" y="116648"/>
            <a:ext cx="12047057" cy="668544"/>
          </a:xfrm>
        </p:spPr>
        <p:txBody>
          <a:bodyPr vert="horz" lIns="91440" tIns="45720" rIns="91440" bIns="45720" rtlCol="0" anchor="ctr">
            <a:normAutofit fontScale="90000"/>
          </a:bodyPr>
          <a:lstStyle/>
          <a:p>
            <a:pPr algn="ctr"/>
            <a:r>
              <a:rPr lang="en-IN" sz="3200" dirty="0">
                <a:latin typeface="StoneSansStd-Medium"/>
              </a:rPr>
              <a:t>Retail Case Study – Date Dimensions – Time of a Day as Dimension or Fact</a:t>
            </a:r>
          </a:p>
        </p:txBody>
      </p:sp>
      <p:sp>
        <p:nvSpPr>
          <p:cNvPr id="3" name="Content Placeholder 2">
            <a:extLst>
              <a:ext uri="{FF2B5EF4-FFF2-40B4-BE49-F238E27FC236}">
                <a16:creationId xmlns:a16="http://schemas.microsoft.com/office/drawing/2014/main" id="{9EF15566-6856-47A7-1EFF-B824C5E0352F}"/>
              </a:ext>
            </a:extLst>
          </p:cNvPr>
          <p:cNvSpPr>
            <a:spLocks noGrp="1"/>
          </p:cNvSpPr>
          <p:nvPr>
            <p:ph idx="1"/>
          </p:nvPr>
        </p:nvSpPr>
        <p:spPr>
          <a:xfrm>
            <a:off x="212034" y="785192"/>
            <a:ext cx="11595653" cy="4959625"/>
          </a:xfrm>
        </p:spPr>
        <p:txBody>
          <a:bodyPr>
            <a:noAutofit/>
          </a:bodyPr>
          <a:lstStyle/>
          <a:p>
            <a:pPr>
              <a:buNone/>
            </a:pPr>
            <a:r>
              <a:rPr lang="en-GB" sz="2400" dirty="0">
                <a:latin typeface="BerkeleyStd-Medium"/>
              </a:rPr>
              <a:t>Date and Time in Data </a:t>
            </a:r>
            <a:r>
              <a:rPr lang="en-GB" sz="2400" dirty="0" err="1">
                <a:latin typeface="BerkeleyStd-Medium"/>
              </a:rPr>
              <a:t>Modeling</a:t>
            </a:r>
            <a:endParaRPr lang="en-GB" sz="2400" dirty="0">
              <a:latin typeface="BerkeleyStd-Medium"/>
            </a:endParaRPr>
          </a:p>
          <a:p>
            <a:pPr>
              <a:buFont typeface="Arial" panose="020B0604020202020204" pitchFamily="34" charset="0"/>
              <a:buChar char="•"/>
            </a:pPr>
            <a:r>
              <a:rPr lang="en-GB" sz="2400" dirty="0">
                <a:latin typeface="BerkeleyStd-Medium"/>
              </a:rPr>
              <a:t>In operational systems, date and time are often stored together in a single timestamp.</a:t>
            </a:r>
          </a:p>
          <a:p>
            <a:pPr>
              <a:buFont typeface="Arial" panose="020B0604020202020204" pitchFamily="34" charset="0"/>
              <a:buChar char="•"/>
            </a:pPr>
            <a:r>
              <a:rPr lang="en-GB" sz="2400" dirty="0">
                <a:latin typeface="BerkeleyStd-Medium"/>
              </a:rPr>
              <a:t>For data </a:t>
            </a:r>
            <a:r>
              <a:rPr lang="en-GB" sz="2400" dirty="0" err="1">
                <a:latin typeface="BerkeleyStd-Medium"/>
              </a:rPr>
              <a:t>modeling</a:t>
            </a:r>
            <a:r>
              <a:rPr lang="en-GB" sz="2400" dirty="0">
                <a:latin typeface="BerkeleyStd-Medium"/>
              </a:rPr>
              <a:t> (e.g., star schema), separating time-of-day from the date dimension is recommended to avoid a huge increase in row count.</a:t>
            </a:r>
          </a:p>
          <a:p>
            <a:pPr>
              <a:buFont typeface="Arial" panose="020B0604020202020204" pitchFamily="34" charset="0"/>
              <a:buChar char="•"/>
            </a:pPr>
            <a:endParaRPr lang="en-GB" sz="2400" dirty="0">
              <a:latin typeface="BerkeleyStd-Medium"/>
            </a:endParaRPr>
          </a:p>
          <a:p>
            <a:pPr>
              <a:buNone/>
            </a:pPr>
            <a:r>
              <a:rPr lang="en-GB" sz="2400" dirty="0">
                <a:latin typeface="BerkeleyStd-Medium"/>
              </a:rPr>
              <a:t>Why Avoid Time in the Date Dimension?</a:t>
            </a:r>
          </a:p>
          <a:p>
            <a:pPr>
              <a:buFont typeface="Arial" panose="020B0604020202020204" pitchFamily="34" charset="0"/>
              <a:buChar char="•"/>
            </a:pPr>
            <a:r>
              <a:rPr lang="en-GB" sz="2400" dirty="0">
                <a:latin typeface="BerkeleyStd-Medium"/>
              </a:rPr>
              <a:t>A date dimension with 20 years of history has about 7,300 rows.</a:t>
            </a:r>
          </a:p>
          <a:p>
            <a:pPr>
              <a:buFont typeface="Arial" panose="020B0604020202020204" pitchFamily="34" charset="0"/>
              <a:buChar char="•"/>
            </a:pPr>
            <a:r>
              <a:rPr lang="en-GB" sz="2400" dirty="0">
                <a:latin typeface="BerkeleyStd-Medium"/>
              </a:rPr>
              <a:t>If you added one row per minute, you'd get:</a:t>
            </a:r>
          </a:p>
          <a:p>
            <a:pPr marL="742950" lvl="1" indent="-285750">
              <a:buFont typeface="Arial" panose="020B0604020202020204" pitchFamily="34" charset="0"/>
              <a:buChar char="•"/>
            </a:pPr>
            <a:r>
              <a:rPr lang="en-GB" dirty="0">
                <a:latin typeface="BerkeleyStd-Medium"/>
              </a:rPr>
              <a:t>1,440 rows per day</a:t>
            </a:r>
          </a:p>
          <a:p>
            <a:pPr marL="742950" lvl="1" indent="-285750">
              <a:buFont typeface="Arial" panose="020B0604020202020204" pitchFamily="34" charset="0"/>
              <a:buChar char="•"/>
            </a:pPr>
            <a:r>
              <a:rPr lang="en-GB" dirty="0">
                <a:latin typeface="BerkeleyStd-Medium"/>
              </a:rPr>
              <a:t>Over 10 million rows for 20 years</a:t>
            </a:r>
          </a:p>
          <a:p>
            <a:pPr>
              <a:buFont typeface="Arial" panose="020B0604020202020204" pitchFamily="34" charset="0"/>
              <a:buChar char="•"/>
            </a:pPr>
            <a:r>
              <a:rPr lang="en-GB" sz="2400" dirty="0">
                <a:latin typeface="BerkeleyStd-Medium"/>
              </a:rPr>
              <a:t>If tracked per second, it would exceed 31 million rows per year.</a:t>
            </a:r>
          </a:p>
          <a:p>
            <a:pPr>
              <a:buFont typeface="Arial" panose="020B0604020202020204" pitchFamily="34" charset="0"/>
              <a:buChar char="•"/>
            </a:pPr>
            <a:r>
              <a:rPr lang="en-GB" sz="2400" dirty="0">
                <a:latin typeface="BerkeleyStd-Medium"/>
              </a:rPr>
              <a:t>Since the date dimension is frequently used in filters, it should be kept small and fast</a:t>
            </a:r>
          </a:p>
        </p:txBody>
      </p:sp>
    </p:spTree>
    <p:extLst>
      <p:ext uri="{BB962C8B-B14F-4D97-AF65-F5344CB8AC3E}">
        <p14:creationId xmlns:p14="http://schemas.microsoft.com/office/powerpoint/2010/main" val="2272203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9161F-349B-23A7-8BC6-B3CE391EE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77DB64-3D59-314C-60CD-A06547B1DF1E}"/>
              </a:ext>
            </a:extLst>
          </p:cNvPr>
          <p:cNvSpPr>
            <a:spLocks noGrp="1"/>
          </p:cNvSpPr>
          <p:nvPr>
            <p:ph type="title"/>
          </p:nvPr>
        </p:nvSpPr>
        <p:spPr>
          <a:xfrm>
            <a:off x="0" y="116648"/>
            <a:ext cx="12047057" cy="668544"/>
          </a:xfrm>
        </p:spPr>
        <p:txBody>
          <a:bodyPr vert="horz" lIns="91440" tIns="45720" rIns="91440" bIns="45720" rtlCol="0" anchor="ctr">
            <a:normAutofit/>
          </a:bodyPr>
          <a:lstStyle/>
          <a:p>
            <a:pPr algn="ctr"/>
            <a:r>
              <a:rPr lang="en-IN" sz="3200" dirty="0">
                <a:latin typeface="StoneSansStd-Medium"/>
              </a:rPr>
              <a:t>Retail Case Study – Date Dimensions – </a:t>
            </a:r>
            <a:r>
              <a:rPr lang="en-GB" sz="3200" dirty="0">
                <a:latin typeface="BerkeleyStd-Medium"/>
              </a:rPr>
              <a:t>Handling Time-of-Day Data</a:t>
            </a:r>
            <a:endParaRPr lang="en-IN" sz="3200" dirty="0">
              <a:latin typeface="StoneSansStd-Medium"/>
            </a:endParaRPr>
          </a:p>
        </p:txBody>
      </p:sp>
      <p:sp>
        <p:nvSpPr>
          <p:cNvPr id="3" name="Content Placeholder 2">
            <a:extLst>
              <a:ext uri="{FF2B5EF4-FFF2-40B4-BE49-F238E27FC236}">
                <a16:creationId xmlns:a16="http://schemas.microsoft.com/office/drawing/2014/main" id="{C7340301-0197-2FC8-0C24-8B04090615E0}"/>
              </a:ext>
            </a:extLst>
          </p:cNvPr>
          <p:cNvSpPr>
            <a:spLocks noGrp="1"/>
          </p:cNvSpPr>
          <p:nvPr>
            <p:ph idx="1"/>
          </p:nvPr>
        </p:nvSpPr>
        <p:spPr>
          <a:xfrm>
            <a:off x="228600" y="785192"/>
            <a:ext cx="11818457" cy="5754756"/>
          </a:xfrm>
        </p:spPr>
        <p:txBody>
          <a:bodyPr>
            <a:noAutofit/>
          </a:bodyPr>
          <a:lstStyle/>
          <a:p>
            <a:pPr>
              <a:buNone/>
            </a:pPr>
            <a:r>
              <a:rPr lang="en-GB" sz="2400" dirty="0">
                <a:latin typeface="BerkeleyStd-Medium"/>
              </a:rPr>
              <a:t>Use a separate Time-of-Day dimension if:</a:t>
            </a:r>
          </a:p>
          <a:p>
            <a:pPr>
              <a:buFont typeface="Arial" panose="020B0604020202020204" pitchFamily="34" charset="0"/>
              <a:buChar char="•"/>
            </a:pPr>
            <a:r>
              <a:rPr lang="en-GB" sz="2400" dirty="0">
                <a:latin typeface="BerkeleyStd-Medium"/>
              </a:rPr>
              <a:t>You need to filter or group by:</a:t>
            </a:r>
          </a:p>
          <a:p>
            <a:pPr marL="742950" lvl="1" indent="-285750">
              <a:buFont typeface="Arial" panose="020B0604020202020204" pitchFamily="34" charset="0"/>
              <a:buChar char="•"/>
            </a:pPr>
            <a:r>
              <a:rPr lang="en-GB" dirty="0">
                <a:latin typeface="BerkeleyStd-Medium"/>
              </a:rPr>
              <a:t>15-minute intervals , Hours, Shifts, Lunch hours, Prime time, etc.</a:t>
            </a:r>
          </a:p>
          <a:p>
            <a:pPr>
              <a:buFont typeface="Arial" panose="020B0604020202020204" pitchFamily="34" charset="0"/>
              <a:buChar char="•"/>
            </a:pPr>
            <a:r>
              <a:rPr lang="en-GB" sz="2400" dirty="0">
                <a:latin typeface="BerkeleyStd-Medium"/>
              </a:rPr>
              <a:t>This dimension might have 1,440 rows (one per minute of the day).</a:t>
            </a:r>
          </a:p>
          <a:p>
            <a:pPr>
              <a:buNone/>
            </a:pPr>
            <a:r>
              <a:rPr lang="en-GB" sz="2400" dirty="0">
                <a:latin typeface="BerkeleyStd-Medium"/>
              </a:rPr>
              <a:t>Skip a separate time dimension if:</a:t>
            </a:r>
          </a:p>
          <a:p>
            <a:pPr>
              <a:buFont typeface="Arial" panose="020B0604020202020204" pitchFamily="34" charset="0"/>
              <a:buChar char="•"/>
            </a:pPr>
            <a:r>
              <a:rPr lang="en-GB" sz="2400" dirty="0">
                <a:latin typeface="BerkeleyStd-Medium"/>
              </a:rPr>
              <a:t>You don’t need time-based grouping or filtering.</a:t>
            </a:r>
          </a:p>
          <a:p>
            <a:pPr>
              <a:buFont typeface="Arial" panose="020B0604020202020204" pitchFamily="34" charset="0"/>
              <a:buChar char="•"/>
            </a:pPr>
            <a:r>
              <a:rPr lang="en-GB" sz="2400" dirty="0">
                <a:latin typeface="BerkeleyStd-Medium"/>
              </a:rPr>
              <a:t>In this case, store the date/time as-is in the fact table.</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400" dirty="0">
              <a:latin typeface="BerkeleyStd-Medium"/>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BerkeleyStd-Medium"/>
              </a:rPr>
              <a:t>Users are often more interested in: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latin typeface="BerkeleyStd-Medium"/>
              </a:rPr>
              <a:t> Time lags (e.g., duration of a transaction)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400" dirty="0">
                <a:latin typeface="BerkeleyStd-Medium"/>
              </a:rPr>
              <a:t> Gaps between events</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400" dirty="0">
              <a:latin typeface="BerkeleyStd-Medium"/>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latin typeface="BerkeleyStd-Medium"/>
              </a:rPr>
              <a:t>These can be calculated by taking the difference between two timestamps, even if the events occurred on different days, months, or years.</a:t>
            </a:r>
          </a:p>
          <a:p>
            <a:pPr marL="0" indent="0">
              <a:buNone/>
            </a:pPr>
            <a:endParaRPr lang="en-GB" sz="2400" dirty="0">
              <a:latin typeface="BerkeleyStd-Medium"/>
            </a:endParaRPr>
          </a:p>
          <a:p>
            <a:pPr marL="0" indent="0">
              <a:buNone/>
            </a:pPr>
            <a:endParaRPr lang="en-GB" sz="2400" dirty="0">
              <a:latin typeface="BerkeleyStd-Medium"/>
            </a:endParaRPr>
          </a:p>
        </p:txBody>
      </p:sp>
    </p:spTree>
    <p:extLst>
      <p:ext uri="{BB962C8B-B14F-4D97-AF65-F5344CB8AC3E}">
        <p14:creationId xmlns:p14="http://schemas.microsoft.com/office/powerpoint/2010/main" val="2288440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FAA20-31C9-13D6-12D9-3850C0F462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6F0263-A174-D931-A63C-87365A275BF9}"/>
              </a:ext>
            </a:extLst>
          </p:cNvPr>
          <p:cNvSpPr>
            <a:spLocks noGrp="1"/>
          </p:cNvSpPr>
          <p:nvPr>
            <p:ph type="title"/>
          </p:nvPr>
        </p:nvSpPr>
        <p:spPr>
          <a:xfrm>
            <a:off x="0" y="116648"/>
            <a:ext cx="12047057" cy="668544"/>
          </a:xfrm>
        </p:spPr>
        <p:txBody>
          <a:bodyPr vert="horz" lIns="91440" tIns="45720" rIns="91440" bIns="45720" rtlCol="0" anchor="ctr">
            <a:normAutofit/>
          </a:bodyPr>
          <a:lstStyle/>
          <a:p>
            <a:pPr algn="ctr"/>
            <a:r>
              <a:rPr lang="en-IN" sz="3200" dirty="0">
                <a:latin typeface="StoneSansStd-Medium"/>
              </a:rPr>
              <a:t>Retail Case Study – Product Dimensions</a:t>
            </a:r>
          </a:p>
        </p:txBody>
      </p:sp>
      <p:sp>
        <p:nvSpPr>
          <p:cNvPr id="3" name="Content Placeholder 2">
            <a:extLst>
              <a:ext uri="{FF2B5EF4-FFF2-40B4-BE49-F238E27FC236}">
                <a16:creationId xmlns:a16="http://schemas.microsoft.com/office/drawing/2014/main" id="{3EF21656-3945-4F1D-5D0B-007EA8FFF6DC}"/>
              </a:ext>
            </a:extLst>
          </p:cNvPr>
          <p:cNvSpPr>
            <a:spLocks noGrp="1"/>
          </p:cNvSpPr>
          <p:nvPr>
            <p:ph idx="1"/>
          </p:nvPr>
        </p:nvSpPr>
        <p:spPr>
          <a:xfrm>
            <a:off x="228600" y="785192"/>
            <a:ext cx="11818457" cy="5754756"/>
          </a:xfrm>
        </p:spPr>
        <p:txBody>
          <a:bodyPr>
            <a:noAutofit/>
          </a:bodyPr>
          <a:lstStyle/>
          <a:p>
            <a:pPr>
              <a:buNone/>
            </a:pPr>
            <a:r>
              <a:rPr lang="en-GB" sz="2400" dirty="0">
                <a:latin typeface="BerkeleyStd-Medium"/>
              </a:rPr>
              <a:t>The product dimension describes every SKU in the grocery store.</a:t>
            </a:r>
          </a:p>
          <a:p>
            <a:pPr>
              <a:buNone/>
            </a:pPr>
            <a:endParaRPr lang="en-GB" sz="2400" dirty="0">
              <a:latin typeface="BerkeleyStd-Medium"/>
            </a:endParaRPr>
          </a:p>
          <a:p>
            <a:pPr>
              <a:buNone/>
            </a:pPr>
            <a:r>
              <a:rPr lang="en-GB" sz="2400" dirty="0">
                <a:latin typeface="BerkeleyStd-Medium"/>
              </a:rPr>
              <a:t>Although Store may Stock 60000 SKUs, Product dimension may have 300,000 or more rows considering different merchandising schemes and historical products. </a:t>
            </a:r>
          </a:p>
          <a:p>
            <a:pPr marL="0" indent="0" algn="l">
              <a:buNone/>
            </a:pPr>
            <a:endParaRPr lang="en-GB" sz="2400" dirty="0">
              <a:latin typeface="BerkeleyStd-Medium"/>
            </a:endParaRPr>
          </a:p>
          <a:p>
            <a:pPr marL="0" indent="0" algn="l">
              <a:buNone/>
            </a:pPr>
            <a:r>
              <a:rPr lang="en-GB" sz="2400" dirty="0">
                <a:latin typeface="BerkeleyStd-Medium"/>
              </a:rPr>
              <a:t>The product dimension is almost always sourced from the operational product master file.</a:t>
            </a:r>
          </a:p>
          <a:p>
            <a:pPr>
              <a:buNone/>
            </a:pPr>
            <a:endParaRPr lang="en-GB" sz="2400" dirty="0">
              <a:latin typeface="BerkeleyStd-Medium"/>
            </a:endParaRPr>
          </a:p>
          <a:p>
            <a:pPr>
              <a:buNone/>
            </a:pPr>
            <a:r>
              <a:rPr lang="en-GB" sz="2400" dirty="0">
                <a:latin typeface="BerkeleyStd-Medium"/>
              </a:rPr>
              <a:t>Product master file is maintained centrally at head office and each store get subset of this file in frequent interval.  </a:t>
            </a:r>
          </a:p>
          <a:p>
            <a:pPr>
              <a:buNone/>
            </a:pPr>
            <a:r>
              <a:rPr lang="en-GB" sz="2400" dirty="0">
                <a:latin typeface="BerkeleyStd-Medium"/>
              </a:rPr>
              <a:t> </a:t>
            </a:r>
          </a:p>
          <a:p>
            <a:pPr marL="0" indent="0">
              <a:buNone/>
            </a:pPr>
            <a:endParaRPr lang="en-GB" sz="2400" dirty="0">
              <a:latin typeface="BerkeleyStd-Medium"/>
            </a:endParaRPr>
          </a:p>
          <a:p>
            <a:pPr marL="0" indent="0">
              <a:buNone/>
            </a:pPr>
            <a:endParaRPr lang="en-GB" sz="2400" dirty="0">
              <a:latin typeface="BerkeleyStd-Medium"/>
            </a:endParaRPr>
          </a:p>
        </p:txBody>
      </p:sp>
    </p:spTree>
    <p:extLst>
      <p:ext uri="{BB962C8B-B14F-4D97-AF65-F5344CB8AC3E}">
        <p14:creationId xmlns:p14="http://schemas.microsoft.com/office/powerpoint/2010/main" val="401061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B91CF-2B1D-4784-AC17-4F1C0458E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4539F-0AAD-44D0-9F42-50803F7EAC9C}"/>
              </a:ext>
            </a:extLst>
          </p:cNvPr>
          <p:cNvSpPr>
            <a:spLocks noGrp="1"/>
          </p:cNvSpPr>
          <p:nvPr>
            <p:ph type="title"/>
          </p:nvPr>
        </p:nvSpPr>
        <p:spPr>
          <a:xfrm>
            <a:off x="0" y="116648"/>
            <a:ext cx="12047057" cy="668544"/>
          </a:xfrm>
        </p:spPr>
        <p:txBody>
          <a:bodyPr vert="horz" lIns="91440" tIns="45720" rIns="91440" bIns="45720" rtlCol="0" anchor="ctr">
            <a:normAutofit fontScale="90000"/>
          </a:bodyPr>
          <a:lstStyle/>
          <a:p>
            <a:pPr algn="ctr"/>
            <a:r>
              <a:rPr lang="en-IN" sz="3200" dirty="0">
                <a:latin typeface="StoneSansStd-Medium"/>
              </a:rPr>
              <a:t>Retail Case Study – Product Dimensions - Flatten Many-to-One Hierarchies</a:t>
            </a:r>
          </a:p>
        </p:txBody>
      </p:sp>
      <p:sp>
        <p:nvSpPr>
          <p:cNvPr id="3" name="Content Placeholder 2">
            <a:extLst>
              <a:ext uri="{FF2B5EF4-FFF2-40B4-BE49-F238E27FC236}">
                <a16:creationId xmlns:a16="http://schemas.microsoft.com/office/drawing/2014/main" id="{0C73BDBB-23B2-B81C-59E9-C643EBF44028}"/>
              </a:ext>
            </a:extLst>
          </p:cNvPr>
          <p:cNvSpPr>
            <a:spLocks noGrp="1"/>
          </p:cNvSpPr>
          <p:nvPr>
            <p:ph idx="1"/>
          </p:nvPr>
        </p:nvSpPr>
        <p:spPr>
          <a:xfrm>
            <a:off x="228600" y="2894909"/>
            <a:ext cx="8706678" cy="3846443"/>
          </a:xfrm>
        </p:spPr>
        <p:txBody>
          <a:bodyPr>
            <a:noAutofit/>
          </a:bodyPr>
          <a:lstStyle/>
          <a:p>
            <a:pPr>
              <a:buNone/>
            </a:pPr>
            <a:r>
              <a:rPr lang="en-GB" sz="2400" dirty="0">
                <a:latin typeface="BerkeleyStd-Medium"/>
              </a:rPr>
              <a:t>The product dimension represents the many descriptive attributes of each SKU.</a:t>
            </a:r>
          </a:p>
          <a:p>
            <a:pPr marL="0" indent="0" algn="l">
              <a:buNone/>
            </a:pPr>
            <a:r>
              <a:rPr lang="en-IN" sz="2400" dirty="0">
                <a:latin typeface="BerkeleyStd-Medium"/>
              </a:rPr>
              <a:t>Individual </a:t>
            </a:r>
            <a:r>
              <a:rPr lang="en-GB" sz="2400" dirty="0">
                <a:latin typeface="BerkeleyStd-Medium"/>
              </a:rPr>
              <a:t>SKUs roll up to brands, brands roll up to categories, and categories roll up to departments. This is many to one relationship.</a:t>
            </a:r>
          </a:p>
          <a:p>
            <a:pPr marL="0" indent="0" algn="l">
              <a:buNone/>
            </a:pPr>
            <a:r>
              <a:rPr lang="en-GB" sz="2400" dirty="0">
                <a:latin typeface="BerkeleyStd-Medium"/>
              </a:rPr>
              <a:t>Keeping the repeated low cardinality (few unique) values in the primary dimension table is a fundamental dimensional </a:t>
            </a:r>
            <a:r>
              <a:rPr lang="en-GB" sz="2400" dirty="0" err="1">
                <a:latin typeface="BerkeleyStd-Medium"/>
              </a:rPr>
              <a:t>modeling</a:t>
            </a:r>
            <a:r>
              <a:rPr lang="en-GB" sz="2400" dirty="0">
                <a:latin typeface="BerkeleyStd-Medium"/>
              </a:rPr>
              <a:t> technique. </a:t>
            </a:r>
          </a:p>
          <a:p>
            <a:pPr marL="0" indent="0" algn="l">
              <a:buNone/>
            </a:pPr>
            <a:r>
              <a:rPr lang="en-GB" sz="2400" dirty="0">
                <a:latin typeface="BerkeleyStd-Medium"/>
              </a:rPr>
              <a:t>Normalizing these values into separate tables defeats the primary goals of simplicity and performance</a:t>
            </a:r>
          </a:p>
          <a:p>
            <a:pPr marL="0" indent="0">
              <a:buNone/>
            </a:pPr>
            <a:endParaRPr lang="en-GB" sz="2400" dirty="0">
              <a:latin typeface="BerkeleyStd-Medium"/>
            </a:endParaRPr>
          </a:p>
        </p:txBody>
      </p:sp>
      <p:pic>
        <p:nvPicPr>
          <p:cNvPr id="5" name="Picture 4">
            <a:extLst>
              <a:ext uri="{FF2B5EF4-FFF2-40B4-BE49-F238E27FC236}">
                <a16:creationId xmlns:a16="http://schemas.microsoft.com/office/drawing/2014/main" id="{6BA8F903-3404-F29A-CE5F-4164260DAD19}"/>
              </a:ext>
            </a:extLst>
          </p:cNvPr>
          <p:cNvPicPr>
            <a:picLocks noChangeAspect="1"/>
          </p:cNvPicPr>
          <p:nvPr/>
        </p:nvPicPr>
        <p:blipFill>
          <a:blip r:embed="rId3"/>
          <a:stretch>
            <a:fillRect/>
          </a:stretch>
        </p:blipFill>
        <p:spPr>
          <a:xfrm>
            <a:off x="228600" y="631594"/>
            <a:ext cx="7349418" cy="2263315"/>
          </a:xfrm>
          <a:prstGeom prst="rect">
            <a:avLst/>
          </a:prstGeom>
        </p:spPr>
      </p:pic>
      <p:pic>
        <p:nvPicPr>
          <p:cNvPr id="7" name="Picture 6">
            <a:extLst>
              <a:ext uri="{FF2B5EF4-FFF2-40B4-BE49-F238E27FC236}">
                <a16:creationId xmlns:a16="http://schemas.microsoft.com/office/drawing/2014/main" id="{65D8B06D-EFCE-856D-8BE3-231DD89791F6}"/>
              </a:ext>
            </a:extLst>
          </p:cNvPr>
          <p:cNvPicPr>
            <a:picLocks noChangeAspect="1"/>
          </p:cNvPicPr>
          <p:nvPr/>
        </p:nvPicPr>
        <p:blipFill>
          <a:blip r:embed="rId4"/>
          <a:stretch>
            <a:fillRect/>
          </a:stretch>
        </p:blipFill>
        <p:spPr>
          <a:xfrm>
            <a:off x="9025849" y="631594"/>
            <a:ext cx="3166151" cy="4954197"/>
          </a:xfrm>
          <a:prstGeom prst="rect">
            <a:avLst/>
          </a:prstGeom>
        </p:spPr>
      </p:pic>
    </p:spTree>
    <p:extLst>
      <p:ext uri="{BB962C8B-B14F-4D97-AF65-F5344CB8AC3E}">
        <p14:creationId xmlns:p14="http://schemas.microsoft.com/office/powerpoint/2010/main" val="3055986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2EFEA-C515-338F-06EE-B6E5D0CEB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0EA18-1A88-DAEA-92A3-5212F94DFEA5}"/>
              </a:ext>
            </a:extLst>
          </p:cNvPr>
          <p:cNvSpPr>
            <a:spLocks noGrp="1"/>
          </p:cNvSpPr>
          <p:nvPr>
            <p:ph type="title"/>
          </p:nvPr>
        </p:nvSpPr>
        <p:spPr>
          <a:xfrm>
            <a:off x="0" y="116648"/>
            <a:ext cx="12047057" cy="668544"/>
          </a:xfrm>
        </p:spPr>
        <p:txBody>
          <a:bodyPr vert="horz" lIns="91440" tIns="45720" rIns="91440" bIns="45720" rtlCol="0" anchor="ctr">
            <a:normAutofit/>
          </a:bodyPr>
          <a:lstStyle/>
          <a:p>
            <a:pPr algn="ctr"/>
            <a:r>
              <a:rPr lang="en-IN" sz="3200" dirty="0">
                <a:latin typeface="StoneSansStd-Medium"/>
              </a:rPr>
              <a:t>Retail Case Study – Product Dimensions – Other Features</a:t>
            </a:r>
          </a:p>
        </p:txBody>
      </p:sp>
      <p:sp>
        <p:nvSpPr>
          <p:cNvPr id="3" name="Content Placeholder 2">
            <a:extLst>
              <a:ext uri="{FF2B5EF4-FFF2-40B4-BE49-F238E27FC236}">
                <a16:creationId xmlns:a16="http://schemas.microsoft.com/office/drawing/2014/main" id="{9173E42B-C5ED-1EB5-1EC3-00E61B08EFDC}"/>
              </a:ext>
            </a:extLst>
          </p:cNvPr>
          <p:cNvSpPr>
            <a:spLocks noGrp="1"/>
          </p:cNvSpPr>
          <p:nvPr>
            <p:ph idx="1"/>
          </p:nvPr>
        </p:nvSpPr>
        <p:spPr>
          <a:xfrm>
            <a:off x="114299" y="785192"/>
            <a:ext cx="11932758" cy="5834269"/>
          </a:xfrm>
        </p:spPr>
        <p:txBody>
          <a:bodyPr>
            <a:noAutofit/>
          </a:bodyPr>
          <a:lstStyle/>
          <a:p>
            <a:pPr>
              <a:buNone/>
            </a:pPr>
            <a:r>
              <a:rPr lang="en-IN" sz="2400" b="1" dirty="0">
                <a:latin typeface="BerkeleyStd-Medium"/>
              </a:rPr>
              <a:t>Attributes with Embedded Meaning</a:t>
            </a:r>
          </a:p>
          <a:p>
            <a:pPr>
              <a:buNone/>
            </a:pPr>
            <a:r>
              <a:rPr lang="en-GB" sz="2400" dirty="0">
                <a:latin typeface="BerkeleyStd-Medium"/>
              </a:rPr>
              <a:t>Often operational product codes, identified in the dimension table by the Natural Key notation, have embedding meaning with different parts of the code.</a:t>
            </a:r>
          </a:p>
          <a:p>
            <a:pPr marL="0" indent="0" algn="l">
              <a:buNone/>
            </a:pPr>
            <a:r>
              <a:rPr lang="en-IN" sz="2400" dirty="0">
                <a:latin typeface="BerkeleyStd-Medium"/>
              </a:rPr>
              <a:t>For example, if </a:t>
            </a:r>
            <a:r>
              <a:rPr lang="en-GB" sz="2400" dirty="0">
                <a:latin typeface="BerkeleyStd-Medium"/>
              </a:rPr>
              <a:t>the fifth through ninth characters in the operational code identify the manufacturer, the manufacturer’s name should also be included as a dimension table attribute.</a:t>
            </a:r>
          </a:p>
          <a:p>
            <a:pPr>
              <a:buNone/>
            </a:pPr>
            <a:endParaRPr lang="en-GB" sz="2400" b="1" dirty="0">
              <a:latin typeface="BerkeleyStd-Medium"/>
            </a:endParaRPr>
          </a:p>
          <a:p>
            <a:pPr>
              <a:buNone/>
            </a:pPr>
            <a:r>
              <a:rPr lang="en-GB" sz="2400" b="1" dirty="0">
                <a:latin typeface="BerkeleyStd-Medium"/>
              </a:rPr>
              <a:t>Numeric Values as Attributes or Facts</a:t>
            </a:r>
          </a:p>
          <a:p>
            <a:pPr marL="0" indent="0" algn="l">
              <a:buNone/>
            </a:pPr>
            <a:r>
              <a:rPr lang="en-GB" sz="2400" dirty="0">
                <a:latin typeface="BerkeleyStd-Medium"/>
              </a:rPr>
              <a:t>Sometimes numeric values serve both calculation and filtering/grouping functions.</a:t>
            </a:r>
          </a:p>
          <a:p>
            <a:pPr marL="0" indent="0" algn="l">
              <a:buNone/>
            </a:pPr>
            <a:r>
              <a:rPr lang="en-GB" sz="2400" dirty="0">
                <a:latin typeface="BerkeleyStd-Medium"/>
              </a:rPr>
              <a:t>In these cases, you should store the value in both the fact and dimension </a:t>
            </a:r>
            <a:r>
              <a:rPr lang="en-IN" sz="2400" dirty="0">
                <a:latin typeface="BerkeleyStd-Medium"/>
              </a:rPr>
              <a:t>tables.</a:t>
            </a:r>
            <a:endParaRPr lang="en-GB" sz="2400" dirty="0">
              <a:latin typeface="BerkeleyStd-Medium"/>
            </a:endParaRPr>
          </a:p>
          <a:p>
            <a:pPr marL="0" indent="0" algn="l">
              <a:buNone/>
            </a:pPr>
            <a:r>
              <a:rPr lang="en-GB" sz="2400" dirty="0">
                <a:latin typeface="BerkeleyStd-Medium"/>
              </a:rPr>
              <a:t>Like the standard price in the fact table represents the valuation at the time of the sales transaction, whereas the dimension attribute is </a:t>
            </a:r>
            <a:r>
              <a:rPr lang="en-GB" sz="2400" dirty="0" err="1">
                <a:latin typeface="BerkeleyStd-Medium"/>
              </a:rPr>
              <a:t>labeled</a:t>
            </a:r>
            <a:r>
              <a:rPr lang="en-GB" sz="2400" dirty="0">
                <a:latin typeface="BerkeleyStd-Medium"/>
              </a:rPr>
              <a:t> to indicate it’s the current standard price.</a:t>
            </a:r>
          </a:p>
        </p:txBody>
      </p:sp>
    </p:spTree>
    <p:extLst>
      <p:ext uri="{BB962C8B-B14F-4D97-AF65-F5344CB8AC3E}">
        <p14:creationId xmlns:p14="http://schemas.microsoft.com/office/powerpoint/2010/main" val="558056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1BF51-C4E8-3DC7-2ED5-61619A5F5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E771E1-F806-EB12-AD28-141E3F69B680}"/>
              </a:ext>
            </a:extLst>
          </p:cNvPr>
          <p:cNvSpPr>
            <a:spLocks noGrp="1"/>
          </p:cNvSpPr>
          <p:nvPr>
            <p:ph type="title"/>
          </p:nvPr>
        </p:nvSpPr>
        <p:spPr>
          <a:xfrm>
            <a:off x="0" y="116648"/>
            <a:ext cx="12047057" cy="668544"/>
          </a:xfrm>
        </p:spPr>
        <p:txBody>
          <a:bodyPr vert="horz" lIns="91440" tIns="45720" rIns="91440" bIns="45720" rtlCol="0" anchor="ctr">
            <a:normAutofit/>
          </a:bodyPr>
          <a:lstStyle/>
          <a:p>
            <a:pPr algn="ctr"/>
            <a:r>
              <a:rPr lang="en-IN" sz="3200" dirty="0">
                <a:latin typeface="StoneSansStd-Medium"/>
              </a:rPr>
              <a:t>Retail Case Study – Product Dimensions – Drilling Down / Up</a:t>
            </a:r>
          </a:p>
        </p:txBody>
      </p:sp>
      <p:sp>
        <p:nvSpPr>
          <p:cNvPr id="3" name="Content Placeholder 2">
            <a:extLst>
              <a:ext uri="{FF2B5EF4-FFF2-40B4-BE49-F238E27FC236}">
                <a16:creationId xmlns:a16="http://schemas.microsoft.com/office/drawing/2014/main" id="{8574DFD2-BD14-D36E-46BB-A0AC673E0BBD}"/>
              </a:ext>
            </a:extLst>
          </p:cNvPr>
          <p:cNvSpPr>
            <a:spLocks noGrp="1"/>
          </p:cNvSpPr>
          <p:nvPr>
            <p:ph idx="1"/>
          </p:nvPr>
        </p:nvSpPr>
        <p:spPr>
          <a:xfrm>
            <a:off x="114299" y="785192"/>
            <a:ext cx="11932758" cy="1371599"/>
          </a:xfrm>
        </p:spPr>
        <p:txBody>
          <a:bodyPr>
            <a:noAutofit/>
          </a:bodyPr>
          <a:lstStyle/>
          <a:p>
            <a:pPr>
              <a:buNone/>
            </a:pPr>
            <a:r>
              <a:rPr lang="en-GB" sz="2400" dirty="0">
                <a:latin typeface="BerkeleyStd-Medium"/>
              </a:rPr>
              <a:t>Drilling down in a dimensional model is nothing more than adding row header attributes from the dimension tables. </a:t>
            </a:r>
          </a:p>
          <a:p>
            <a:pPr>
              <a:buNone/>
            </a:pPr>
            <a:r>
              <a:rPr lang="en-GB" sz="2400" dirty="0">
                <a:latin typeface="BerkeleyStd-Medium"/>
              </a:rPr>
              <a:t>Drilling up is removing row headers.</a:t>
            </a:r>
          </a:p>
          <a:p>
            <a:pPr>
              <a:buNone/>
            </a:pPr>
            <a:endParaRPr lang="en-GB" sz="2400" dirty="0">
              <a:latin typeface="BerkeleyStd-Medium"/>
            </a:endParaRPr>
          </a:p>
        </p:txBody>
      </p:sp>
      <p:pic>
        <p:nvPicPr>
          <p:cNvPr id="5" name="Picture 4">
            <a:extLst>
              <a:ext uri="{FF2B5EF4-FFF2-40B4-BE49-F238E27FC236}">
                <a16:creationId xmlns:a16="http://schemas.microsoft.com/office/drawing/2014/main" id="{B5BFD86D-929E-86C7-1855-35937A1642E9}"/>
              </a:ext>
            </a:extLst>
          </p:cNvPr>
          <p:cNvPicPr>
            <a:picLocks noChangeAspect="1"/>
          </p:cNvPicPr>
          <p:nvPr/>
        </p:nvPicPr>
        <p:blipFill>
          <a:blip r:embed="rId3"/>
          <a:stretch>
            <a:fillRect/>
          </a:stretch>
        </p:blipFill>
        <p:spPr>
          <a:xfrm>
            <a:off x="8039265" y="1146601"/>
            <a:ext cx="4038436" cy="5594751"/>
          </a:xfrm>
          <a:prstGeom prst="rect">
            <a:avLst/>
          </a:prstGeom>
        </p:spPr>
      </p:pic>
      <p:sp>
        <p:nvSpPr>
          <p:cNvPr id="7" name="TextBox 6">
            <a:extLst>
              <a:ext uri="{FF2B5EF4-FFF2-40B4-BE49-F238E27FC236}">
                <a16:creationId xmlns:a16="http://schemas.microsoft.com/office/drawing/2014/main" id="{941F9704-F78E-DCE3-D822-5E4327134D05}"/>
              </a:ext>
            </a:extLst>
          </p:cNvPr>
          <p:cNvSpPr txBox="1"/>
          <p:nvPr/>
        </p:nvSpPr>
        <p:spPr>
          <a:xfrm>
            <a:off x="114299" y="2156791"/>
            <a:ext cx="7894322" cy="3785652"/>
          </a:xfrm>
          <a:prstGeom prst="rect">
            <a:avLst/>
          </a:prstGeom>
          <a:noFill/>
        </p:spPr>
        <p:txBody>
          <a:bodyPr wrap="square">
            <a:spAutoFit/>
          </a:bodyPr>
          <a:lstStyle/>
          <a:p>
            <a:pPr marL="0" indent="0" algn="l">
              <a:buNone/>
            </a:pPr>
            <a:r>
              <a:rPr lang="en-GB" sz="2400" dirty="0">
                <a:latin typeface="BerkeleyStd-Medium"/>
              </a:rPr>
              <a:t>Consider that we have a simple report summarizing the sales dollar amount by department.</a:t>
            </a:r>
          </a:p>
          <a:p>
            <a:pPr algn="l"/>
            <a:endParaRPr lang="en-GB" sz="2400" dirty="0">
              <a:latin typeface="BerkeleyStd-Medium"/>
            </a:endParaRPr>
          </a:p>
          <a:p>
            <a:pPr algn="l"/>
            <a:r>
              <a:rPr lang="en-GB" sz="2400" dirty="0">
                <a:latin typeface="BerkeleyStd-Medium"/>
              </a:rPr>
              <a:t>If we want to drill down, we can drag any other attribute, such as brand, from the product dimension into the report next to department, and you can automatically drill down to this next level of detail.</a:t>
            </a:r>
          </a:p>
          <a:p>
            <a:pPr algn="l"/>
            <a:endParaRPr lang="en-GB" sz="2400" dirty="0">
              <a:latin typeface="BerkeleyStd-Medium"/>
            </a:endParaRPr>
          </a:p>
          <a:p>
            <a:pPr algn="l"/>
            <a:endParaRPr lang="en-GB" sz="2400" dirty="0">
              <a:latin typeface="BerkeleyStd-Medium"/>
            </a:endParaRPr>
          </a:p>
          <a:p>
            <a:pPr>
              <a:buNone/>
            </a:pPr>
            <a:r>
              <a:rPr lang="en-IN" sz="2400" dirty="0">
                <a:latin typeface="BerkeleyStd-Medium"/>
              </a:rPr>
              <a:t> </a:t>
            </a:r>
            <a:endParaRPr lang="en-GB" sz="2400" dirty="0">
              <a:latin typeface="BerkeleyStd-Medium"/>
            </a:endParaRPr>
          </a:p>
        </p:txBody>
      </p:sp>
    </p:spTree>
    <p:extLst>
      <p:ext uri="{BB962C8B-B14F-4D97-AF65-F5344CB8AC3E}">
        <p14:creationId xmlns:p14="http://schemas.microsoft.com/office/powerpoint/2010/main" val="29064214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9F98C-DD54-65C1-A2F9-4FB842186F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8DDE9-379F-4147-8AB1-A002C472A54D}"/>
              </a:ext>
            </a:extLst>
          </p:cNvPr>
          <p:cNvSpPr>
            <a:spLocks noGrp="1"/>
          </p:cNvSpPr>
          <p:nvPr>
            <p:ph type="title"/>
          </p:nvPr>
        </p:nvSpPr>
        <p:spPr>
          <a:xfrm>
            <a:off x="0" y="116648"/>
            <a:ext cx="12047057" cy="668544"/>
          </a:xfrm>
        </p:spPr>
        <p:txBody>
          <a:bodyPr vert="horz" lIns="91440" tIns="45720" rIns="91440" bIns="45720" rtlCol="0" anchor="ctr">
            <a:normAutofit/>
          </a:bodyPr>
          <a:lstStyle/>
          <a:p>
            <a:pPr algn="ctr"/>
            <a:r>
              <a:rPr lang="en-IN" sz="3200" dirty="0">
                <a:latin typeface="StoneSansStd-Medium"/>
              </a:rPr>
              <a:t>Retail Case Study – Store Dimensions</a:t>
            </a:r>
          </a:p>
        </p:txBody>
      </p:sp>
      <p:sp>
        <p:nvSpPr>
          <p:cNvPr id="3" name="Content Placeholder 2">
            <a:extLst>
              <a:ext uri="{FF2B5EF4-FFF2-40B4-BE49-F238E27FC236}">
                <a16:creationId xmlns:a16="http://schemas.microsoft.com/office/drawing/2014/main" id="{0F68405F-395E-7A1E-9A42-739D61A3BB9E}"/>
              </a:ext>
            </a:extLst>
          </p:cNvPr>
          <p:cNvSpPr>
            <a:spLocks noGrp="1"/>
          </p:cNvSpPr>
          <p:nvPr>
            <p:ph idx="1"/>
          </p:nvPr>
        </p:nvSpPr>
        <p:spPr>
          <a:xfrm>
            <a:off x="114299" y="785191"/>
            <a:ext cx="8463171" cy="5705061"/>
          </a:xfrm>
        </p:spPr>
        <p:txBody>
          <a:bodyPr>
            <a:noAutofit/>
          </a:bodyPr>
          <a:lstStyle/>
          <a:p>
            <a:pPr marL="0" indent="0" algn="l">
              <a:buNone/>
            </a:pPr>
            <a:r>
              <a:rPr lang="en-GB" sz="2400" dirty="0">
                <a:latin typeface="BerkeleyStd-Medium"/>
              </a:rPr>
              <a:t>The store dimension describes every store in the grocery chain. </a:t>
            </a:r>
          </a:p>
          <a:p>
            <a:pPr marL="0" indent="0" algn="l">
              <a:buNone/>
            </a:pPr>
            <a:r>
              <a:rPr lang="en-GB" sz="2400" dirty="0">
                <a:latin typeface="BerkeleyStd-Medium"/>
              </a:rPr>
              <a:t>Unlike the product master file that is almost guaranteed to be available in every large grocery business, there may not be a comprehensive store master fi le. </a:t>
            </a:r>
          </a:p>
          <a:p>
            <a:pPr marL="0" indent="0" algn="l">
              <a:buNone/>
            </a:pPr>
            <a:r>
              <a:rPr lang="en-GB" sz="2400" dirty="0">
                <a:latin typeface="BerkeleyStd-Medium"/>
              </a:rPr>
              <a:t>POS systems may simply supply a store number on the transaction records</a:t>
            </a:r>
          </a:p>
          <a:p>
            <a:pPr marL="0" indent="0" algn="l">
              <a:buNone/>
            </a:pPr>
            <a:r>
              <a:rPr lang="en-GB" sz="2400" dirty="0">
                <a:latin typeface="BerkeleyStd-Medium"/>
              </a:rPr>
              <a:t>The store dimension is the case study’s primary geographic dimension. </a:t>
            </a:r>
          </a:p>
          <a:p>
            <a:pPr marL="0" indent="0" algn="l">
              <a:buNone/>
            </a:pPr>
            <a:r>
              <a:rPr lang="en-GB" sz="2400" dirty="0">
                <a:latin typeface="BerkeleyStd-Medium"/>
              </a:rPr>
              <a:t>Each store can be thought of as a location. You can roll stores up to any geographic attribute, such as ZIP code, county, and states. </a:t>
            </a:r>
          </a:p>
          <a:p>
            <a:pPr marL="0" indent="0" algn="l">
              <a:buNone/>
            </a:pPr>
            <a:r>
              <a:rPr lang="en-IN" sz="2400" dirty="0">
                <a:latin typeface="BerkeleyStd-Medium"/>
              </a:rPr>
              <a:t>Since many </a:t>
            </a:r>
            <a:r>
              <a:rPr lang="en-GB" sz="2400" dirty="0">
                <a:latin typeface="BerkeleyStd-Medium"/>
              </a:rPr>
              <a:t>states have identically named cities, you’ll want to include a City-State attribute </a:t>
            </a:r>
            <a:r>
              <a:rPr lang="en-IN" sz="2400" dirty="0">
                <a:latin typeface="BerkeleyStd-Medium"/>
              </a:rPr>
              <a:t>in the store dimension.</a:t>
            </a:r>
            <a:endParaRPr lang="en-GB" sz="2400" dirty="0">
              <a:latin typeface="BerkeleyStd-Medium"/>
            </a:endParaRPr>
          </a:p>
          <a:p>
            <a:pPr marL="0" indent="0" algn="l">
              <a:buNone/>
            </a:pPr>
            <a:r>
              <a:rPr lang="en-GB" sz="2400" dirty="0">
                <a:latin typeface="BerkeleyStd-Medium"/>
              </a:rPr>
              <a:t>Stores likely also roll up an internal organization hierarchy consisting of store </a:t>
            </a:r>
            <a:r>
              <a:rPr lang="en-IN" sz="2400" dirty="0">
                <a:latin typeface="BerkeleyStd-Medium"/>
              </a:rPr>
              <a:t>districts and regions.</a:t>
            </a:r>
            <a:endParaRPr lang="en-GB" sz="2400" dirty="0">
              <a:latin typeface="BerkeleyStd-Medium"/>
            </a:endParaRPr>
          </a:p>
        </p:txBody>
      </p:sp>
      <p:pic>
        <p:nvPicPr>
          <p:cNvPr id="6" name="Picture 5">
            <a:extLst>
              <a:ext uri="{FF2B5EF4-FFF2-40B4-BE49-F238E27FC236}">
                <a16:creationId xmlns:a16="http://schemas.microsoft.com/office/drawing/2014/main" id="{12536480-A658-7F7E-55B2-DFD3D70C0FBD}"/>
              </a:ext>
            </a:extLst>
          </p:cNvPr>
          <p:cNvPicPr>
            <a:picLocks noChangeAspect="1"/>
          </p:cNvPicPr>
          <p:nvPr/>
        </p:nvPicPr>
        <p:blipFill>
          <a:blip r:embed="rId3"/>
          <a:stretch>
            <a:fillRect/>
          </a:stretch>
        </p:blipFill>
        <p:spPr>
          <a:xfrm>
            <a:off x="8507237" y="879612"/>
            <a:ext cx="3539820" cy="5516218"/>
          </a:xfrm>
          <a:prstGeom prst="rect">
            <a:avLst/>
          </a:prstGeom>
        </p:spPr>
      </p:pic>
    </p:spTree>
    <p:extLst>
      <p:ext uri="{BB962C8B-B14F-4D97-AF65-F5344CB8AC3E}">
        <p14:creationId xmlns:p14="http://schemas.microsoft.com/office/powerpoint/2010/main" val="29648568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59AC9-B0DD-80BD-E7FB-072D4FDB3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DCF3BB-A2BB-78DA-D699-935D8AAC09AB}"/>
              </a:ext>
            </a:extLst>
          </p:cNvPr>
          <p:cNvSpPr>
            <a:spLocks noGrp="1"/>
          </p:cNvSpPr>
          <p:nvPr>
            <p:ph type="title"/>
          </p:nvPr>
        </p:nvSpPr>
        <p:spPr>
          <a:xfrm>
            <a:off x="0" y="116648"/>
            <a:ext cx="12047057" cy="668544"/>
          </a:xfrm>
        </p:spPr>
        <p:txBody>
          <a:bodyPr vert="horz" lIns="91440" tIns="45720" rIns="91440" bIns="45720" rtlCol="0" anchor="ctr">
            <a:normAutofit/>
          </a:bodyPr>
          <a:lstStyle/>
          <a:p>
            <a:pPr algn="ctr"/>
            <a:r>
              <a:rPr lang="en-IN" sz="3200" dirty="0">
                <a:latin typeface="StoneSansStd-Medium"/>
              </a:rPr>
              <a:t>Retail Case Study – Promotion Dimensions</a:t>
            </a:r>
          </a:p>
        </p:txBody>
      </p:sp>
      <p:sp>
        <p:nvSpPr>
          <p:cNvPr id="3" name="Content Placeholder 2">
            <a:extLst>
              <a:ext uri="{FF2B5EF4-FFF2-40B4-BE49-F238E27FC236}">
                <a16:creationId xmlns:a16="http://schemas.microsoft.com/office/drawing/2014/main" id="{8659D978-9D84-9670-0429-23F47A5CB226}"/>
              </a:ext>
            </a:extLst>
          </p:cNvPr>
          <p:cNvSpPr>
            <a:spLocks noGrp="1"/>
          </p:cNvSpPr>
          <p:nvPr>
            <p:ph idx="1"/>
          </p:nvPr>
        </p:nvSpPr>
        <p:spPr>
          <a:xfrm>
            <a:off x="114299" y="785191"/>
            <a:ext cx="11683449" cy="5705061"/>
          </a:xfrm>
        </p:spPr>
        <p:txBody>
          <a:bodyPr>
            <a:noAutofit/>
          </a:bodyPr>
          <a:lstStyle/>
          <a:p>
            <a:pPr marL="0" indent="0" algn="l">
              <a:buNone/>
            </a:pPr>
            <a:r>
              <a:rPr lang="en-GB" sz="2400" dirty="0">
                <a:latin typeface="BerkeleyStd-Medium"/>
              </a:rPr>
              <a:t>The promotion dimension is potentially the most interesting dimension in the </a:t>
            </a:r>
            <a:r>
              <a:rPr lang="en-IN" sz="2400" dirty="0">
                <a:latin typeface="BerkeleyStd-Medium"/>
              </a:rPr>
              <a:t>retail sales schema. </a:t>
            </a:r>
          </a:p>
          <a:p>
            <a:pPr marL="0" indent="0" algn="l">
              <a:buNone/>
            </a:pPr>
            <a:r>
              <a:rPr lang="en-IN" sz="2400" dirty="0">
                <a:latin typeface="BerkeleyStd-Medium"/>
              </a:rPr>
              <a:t>The promotion dimension describes the promotion conditions </a:t>
            </a:r>
            <a:r>
              <a:rPr lang="en-GB" sz="2400" dirty="0">
                <a:latin typeface="BerkeleyStd-Medium"/>
              </a:rPr>
              <a:t>under which a product is sold. </a:t>
            </a:r>
          </a:p>
          <a:p>
            <a:pPr marL="0" indent="0" algn="l">
              <a:buNone/>
            </a:pPr>
            <a:endParaRPr lang="en-GB" sz="2400" dirty="0">
              <a:latin typeface="BerkeleyStd-Medium"/>
            </a:endParaRPr>
          </a:p>
          <a:p>
            <a:pPr marL="0" indent="0" algn="l">
              <a:buNone/>
            </a:pPr>
            <a:r>
              <a:rPr lang="en-GB" sz="2400" dirty="0">
                <a:latin typeface="BerkeleyStd-Medium"/>
              </a:rPr>
              <a:t>Promotion conditions include temporary price reductions, end aisle displays, newspaper ads, and coupons. </a:t>
            </a:r>
          </a:p>
          <a:p>
            <a:pPr marL="0" indent="0" algn="l">
              <a:buNone/>
            </a:pPr>
            <a:endParaRPr lang="en-GB" sz="2400" dirty="0">
              <a:latin typeface="BerkeleyStd-Medium"/>
            </a:endParaRPr>
          </a:p>
          <a:p>
            <a:pPr marL="0" indent="0" algn="l">
              <a:buNone/>
            </a:pPr>
            <a:r>
              <a:rPr lang="en-GB" sz="2400" dirty="0">
                <a:latin typeface="BerkeleyStd-Medium"/>
              </a:rPr>
              <a:t>This dimension is often called a causal dimension because it describes factors thought to cause a </a:t>
            </a:r>
            <a:r>
              <a:rPr lang="en-IN" sz="2400" dirty="0">
                <a:latin typeface="BerkeleyStd-Medium"/>
              </a:rPr>
              <a:t>change in product sales.</a:t>
            </a:r>
            <a:endParaRPr lang="en-GB" sz="2400" dirty="0">
              <a:latin typeface="BerkeleyStd-Medium"/>
            </a:endParaRPr>
          </a:p>
        </p:txBody>
      </p:sp>
    </p:spTree>
    <p:extLst>
      <p:ext uri="{BB962C8B-B14F-4D97-AF65-F5344CB8AC3E}">
        <p14:creationId xmlns:p14="http://schemas.microsoft.com/office/powerpoint/2010/main" val="2141343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17E5F-8C90-E3E5-4CD0-1FDC6959B6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DF784-249D-0A93-FDC1-7F095537E05D}"/>
              </a:ext>
            </a:extLst>
          </p:cNvPr>
          <p:cNvSpPr>
            <a:spLocks noGrp="1"/>
          </p:cNvSpPr>
          <p:nvPr>
            <p:ph type="title"/>
          </p:nvPr>
        </p:nvSpPr>
        <p:spPr>
          <a:xfrm>
            <a:off x="0" y="116648"/>
            <a:ext cx="12047057" cy="668544"/>
          </a:xfrm>
        </p:spPr>
        <p:txBody>
          <a:bodyPr vert="horz" lIns="91440" tIns="45720" rIns="91440" bIns="45720" rtlCol="0" anchor="ctr">
            <a:normAutofit/>
          </a:bodyPr>
          <a:lstStyle/>
          <a:p>
            <a:pPr algn="ctr"/>
            <a:r>
              <a:rPr lang="en-IN" sz="3200" dirty="0">
                <a:latin typeface="StoneSansStd-Medium"/>
              </a:rPr>
              <a:t>Retail Case Study – Promotion Dimensions Factors</a:t>
            </a:r>
          </a:p>
        </p:txBody>
      </p:sp>
      <p:sp>
        <p:nvSpPr>
          <p:cNvPr id="4" name="Rectangle 1">
            <a:extLst>
              <a:ext uri="{FF2B5EF4-FFF2-40B4-BE49-F238E27FC236}">
                <a16:creationId xmlns:a16="http://schemas.microsoft.com/office/drawing/2014/main" id="{25EA1243-CDD0-A3B7-6442-897A7365F99C}"/>
              </a:ext>
            </a:extLst>
          </p:cNvPr>
          <p:cNvSpPr>
            <a:spLocks noChangeArrowheads="1"/>
          </p:cNvSpPr>
          <p:nvPr/>
        </p:nvSpPr>
        <p:spPr bwMode="auto">
          <a:xfrm>
            <a:off x="430695" y="1108357"/>
            <a:ext cx="11529391"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l">
              <a:buNone/>
            </a:pPr>
            <a:r>
              <a:rPr lang="en-GB" sz="2400" dirty="0">
                <a:latin typeface="BerkeleyStd-Medium"/>
              </a:rPr>
              <a:t>Promotions are judged on one or more of the </a:t>
            </a:r>
            <a:r>
              <a:rPr lang="en-IN" sz="2400" dirty="0">
                <a:latin typeface="BerkeleyStd-Medium"/>
              </a:rPr>
              <a:t>following factors:</a:t>
            </a:r>
          </a:p>
          <a:p>
            <a:pPr marL="0" indent="0" algn="l">
              <a:buNone/>
            </a:pPr>
            <a:r>
              <a:rPr lang="en-IN" sz="2400" dirty="0">
                <a:latin typeface="BerkeleyStd-Medium"/>
              </a:rPr>
              <a:t> </a:t>
            </a:r>
            <a:endParaRPr lang="en-US" altLang="en-US" sz="2400" dirty="0">
              <a:latin typeface="BerkeleyStd-Medium"/>
            </a:endParaRP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BerkeleyStd-Medium"/>
              </a:rPr>
              <a:t>Sales Lift</a:t>
            </a:r>
            <a:br>
              <a:rPr lang="en-US" altLang="en-US" sz="2400" dirty="0">
                <a:latin typeface="BerkeleyStd-Medium"/>
              </a:rPr>
            </a:br>
            <a:r>
              <a:rPr lang="en-US" altLang="en-US" sz="2400" dirty="0">
                <a:latin typeface="BerkeleyStd-Medium"/>
              </a:rPr>
              <a:t>Did the promoted products show an increase in sales during the promotion?</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BerkeleyStd-Medium"/>
              </a:rPr>
              <a:t>- To measure this, estimate what sales would have been without the promotion (baseline).</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BerkeleyStd-Medium"/>
              </a:rPr>
              <a:t>- Baseline can come from past sales data or advanced models.</a:t>
            </a:r>
          </a:p>
          <a:p>
            <a:pPr marL="0" marR="0" lvl="0" indent="0" algn="l" defTabSz="914400" rtl="0" eaLnBrk="0" fontAlgn="base" latinLnBrk="0" hangingPunct="0">
              <a:lnSpc>
                <a:spcPct val="100000"/>
              </a:lnSpc>
              <a:spcBef>
                <a:spcPct val="0"/>
              </a:spcBef>
              <a:spcAft>
                <a:spcPct val="0"/>
              </a:spcAft>
              <a:buClrTx/>
              <a:buSzTx/>
              <a:tabLst/>
            </a:pPr>
            <a:endParaRPr lang="en-US" altLang="en-US" sz="2400" dirty="0">
              <a:latin typeface="BerkeleyStd-Medium"/>
            </a:endParaRP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BerkeleyStd-Medium"/>
              </a:rPr>
              <a:t>Time Shifting</a:t>
            </a:r>
            <a:br>
              <a:rPr lang="en-US" altLang="en-US" sz="2400" dirty="0">
                <a:latin typeface="BerkeleyStd-Medium"/>
              </a:rPr>
            </a:br>
            <a:r>
              <a:rPr lang="en-US" altLang="en-US" sz="2400" dirty="0">
                <a:latin typeface="BerkeleyStd-Medium"/>
              </a:rPr>
              <a:t>Did sales drop just before or after the promotion, offsetting the gain during the promotion?</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BerkeleyStd-Medium"/>
              </a:rPr>
              <a:t>- This means customers may have simply shifted their purchases to the promo period.</a:t>
            </a:r>
          </a:p>
          <a:p>
            <a:pPr marL="0" marR="0" lvl="0" indent="0" algn="l" defTabSz="914400" rtl="0" eaLnBrk="0" fontAlgn="base" latinLnBrk="0" hangingPunct="0">
              <a:lnSpc>
                <a:spcPct val="100000"/>
              </a:lnSpc>
              <a:spcBef>
                <a:spcPct val="0"/>
              </a:spcBef>
              <a:spcAft>
                <a:spcPct val="0"/>
              </a:spcAft>
              <a:buClrTx/>
              <a:buSzTx/>
              <a:tabLst/>
            </a:pPr>
            <a:endParaRPr lang="en-US" altLang="en-US" sz="2400" dirty="0">
              <a:latin typeface="BerkeleyStd-Medium"/>
            </a:endParaRP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BerkeleyStd-Medium"/>
              </a:rPr>
              <a:t>Cannibalization</a:t>
            </a:r>
            <a:br>
              <a:rPr lang="en-US" altLang="en-US" sz="2400" dirty="0">
                <a:latin typeface="BerkeleyStd-Medium"/>
              </a:rPr>
            </a:br>
            <a:r>
              <a:rPr lang="en-US" altLang="en-US" sz="2400" dirty="0">
                <a:latin typeface="BerkeleyStd-Medium"/>
              </a:rPr>
              <a:t>Did the promoted product’s sales increase, but reduce sales of similar nearby products?</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BerkeleyStd-Medium"/>
              </a:rPr>
              <a:t>- In this case, total category sales may not have grown — just shifted between products.</a:t>
            </a:r>
          </a:p>
        </p:txBody>
      </p:sp>
    </p:spTree>
    <p:extLst>
      <p:ext uri="{BB962C8B-B14F-4D97-AF65-F5344CB8AC3E}">
        <p14:creationId xmlns:p14="http://schemas.microsoft.com/office/powerpoint/2010/main" val="38561153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03C4B-DFE2-C232-8C2A-2ECC70962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32247-BF49-63E8-6565-20CB7343B6AA}"/>
              </a:ext>
            </a:extLst>
          </p:cNvPr>
          <p:cNvSpPr>
            <a:spLocks noGrp="1"/>
          </p:cNvSpPr>
          <p:nvPr>
            <p:ph type="title"/>
          </p:nvPr>
        </p:nvSpPr>
        <p:spPr>
          <a:xfrm>
            <a:off x="0" y="116648"/>
            <a:ext cx="12047057" cy="668544"/>
          </a:xfrm>
        </p:spPr>
        <p:txBody>
          <a:bodyPr vert="horz" lIns="91440" tIns="45720" rIns="91440" bIns="45720" rtlCol="0" anchor="ctr">
            <a:normAutofit/>
          </a:bodyPr>
          <a:lstStyle/>
          <a:p>
            <a:pPr algn="ctr"/>
            <a:r>
              <a:rPr lang="en-IN" sz="3200" dirty="0">
                <a:latin typeface="StoneSansStd-Medium"/>
              </a:rPr>
              <a:t>Retail Case Study – Promotion Dimensions Factors</a:t>
            </a:r>
          </a:p>
        </p:txBody>
      </p:sp>
      <p:sp>
        <p:nvSpPr>
          <p:cNvPr id="4" name="Rectangle 1">
            <a:extLst>
              <a:ext uri="{FF2B5EF4-FFF2-40B4-BE49-F238E27FC236}">
                <a16:creationId xmlns:a16="http://schemas.microsoft.com/office/drawing/2014/main" id="{BAD44E70-7431-8E01-0FCF-FFDD1FB0AD7A}"/>
              </a:ext>
            </a:extLst>
          </p:cNvPr>
          <p:cNvSpPr>
            <a:spLocks noChangeArrowheads="1"/>
          </p:cNvSpPr>
          <p:nvPr/>
        </p:nvSpPr>
        <p:spPr bwMode="auto">
          <a:xfrm>
            <a:off x="162339" y="913104"/>
            <a:ext cx="11529391"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l">
              <a:buNone/>
            </a:pPr>
            <a:r>
              <a:rPr lang="en-GB" sz="2400" dirty="0">
                <a:latin typeface="BerkeleyStd-Medium"/>
              </a:rPr>
              <a:t>Promotions are judged on one or more of the </a:t>
            </a:r>
            <a:r>
              <a:rPr lang="en-IN" sz="2400" dirty="0">
                <a:latin typeface="BerkeleyStd-Medium"/>
              </a:rPr>
              <a:t>following factors:</a:t>
            </a:r>
          </a:p>
          <a:p>
            <a:pPr marL="0" indent="0" algn="l">
              <a:buNone/>
            </a:pPr>
            <a:r>
              <a:rPr lang="en-IN" sz="2400" dirty="0">
                <a:latin typeface="BerkeleyStd-Medium"/>
              </a:rPr>
              <a:t> </a:t>
            </a:r>
            <a:endParaRPr lang="en-US" altLang="en-US" sz="2400" dirty="0">
              <a:latin typeface="BerkeleyStd-Medium"/>
            </a:endParaRP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BerkeleyStd-Medium"/>
              </a:rPr>
              <a:t>Market Growth</a:t>
            </a:r>
            <a:br>
              <a:rPr lang="en-US" altLang="en-US" sz="2400" dirty="0">
                <a:latin typeface="BerkeleyStd-Medium"/>
              </a:rPr>
            </a:br>
            <a:r>
              <a:rPr lang="en-US" altLang="en-US" sz="2400" dirty="0">
                <a:latin typeface="BerkeleyStd-Medium"/>
              </a:rPr>
              <a:t>Did the overall product category show a net gain in sales across all time periods (before, during, after)?</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BerkeleyStd-Medium"/>
              </a:rPr>
              <a:t>- This indicates whether the promotion brought in new sales rather than just shifting them.</a:t>
            </a:r>
          </a:p>
          <a:p>
            <a:pPr marL="0" marR="0" lvl="0" indent="0" algn="l" defTabSz="914400" rtl="0" eaLnBrk="0" fontAlgn="base" latinLnBrk="0" hangingPunct="0">
              <a:lnSpc>
                <a:spcPct val="100000"/>
              </a:lnSpc>
              <a:spcBef>
                <a:spcPct val="0"/>
              </a:spcBef>
              <a:spcAft>
                <a:spcPct val="0"/>
              </a:spcAft>
              <a:buClrTx/>
              <a:buSzTx/>
              <a:tabLst/>
            </a:pPr>
            <a:endParaRPr lang="en-US" altLang="en-US" sz="2400" dirty="0">
              <a:latin typeface="BerkeleyStd-Medium"/>
            </a:endParaRP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BerkeleyStd-Medium"/>
              </a:rPr>
              <a:t>Profitability</a:t>
            </a:r>
            <a:br>
              <a:rPr lang="en-US" altLang="en-US" sz="2400" dirty="0">
                <a:latin typeface="BerkeleyStd-Medium"/>
              </a:rPr>
            </a:br>
            <a:r>
              <a:rPr lang="en-US" altLang="en-US" sz="2400" dirty="0">
                <a:latin typeface="BerkeleyStd-Medium"/>
              </a:rPr>
              <a:t>Was the promotion profitable after accounting for:</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BerkeleyStd-Medium"/>
              </a:rPr>
              <a:t>- The increase in sales (vs. baseline)</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BerkeleyStd-Medium"/>
              </a:rPr>
              <a:t>- Time shifting and cannibalization</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BerkeleyStd-Medium"/>
              </a:rPr>
              <a:t>- The cost of running the promotion?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51641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96B64-D5A9-D2DB-84AA-43B995CDF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29B378-2564-40D1-007A-59EE31C54F0E}"/>
              </a:ext>
            </a:extLst>
          </p:cNvPr>
          <p:cNvSpPr>
            <a:spLocks noGrp="1"/>
          </p:cNvSpPr>
          <p:nvPr>
            <p:ph type="title"/>
          </p:nvPr>
        </p:nvSpPr>
        <p:spPr>
          <a:xfrm>
            <a:off x="0" y="9939"/>
            <a:ext cx="12047057" cy="668544"/>
          </a:xfrm>
        </p:spPr>
        <p:txBody>
          <a:bodyPr vert="horz" lIns="91440" tIns="45720" rIns="91440" bIns="45720" rtlCol="0" anchor="ctr">
            <a:normAutofit/>
          </a:bodyPr>
          <a:lstStyle/>
          <a:p>
            <a:pPr algn="ctr"/>
            <a:r>
              <a:rPr lang="en-IN" sz="3200" dirty="0">
                <a:latin typeface="StoneSansStd-Medium"/>
              </a:rPr>
              <a:t>Retail Case Study – Promotion Dimensions</a:t>
            </a:r>
          </a:p>
        </p:txBody>
      </p:sp>
      <p:pic>
        <p:nvPicPr>
          <p:cNvPr id="5" name="Picture 4">
            <a:extLst>
              <a:ext uri="{FF2B5EF4-FFF2-40B4-BE49-F238E27FC236}">
                <a16:creationId xmlns:a16="http://schemas.microsoft.com/office/drawing/2014/main" id="{4EA2ABA3-D84C-D899-267B-13A48029293A}"/>
              </a:ext>
            </a:extLst>
          </p:cNvPr>
          <p:cNvPicPr>
            <a:picLocks noChangeAspect="1"/>
          </p:cNvPicPr>
          <p:nvPr/>
        </p:nvPicPr>
        <p:blipFill>
          <a:blip r:embed="rId3"/>
          <a:stretch>
            <a:fillRect/>
          </a:stretch>
        </p:blipFill>
        <p:spPr>
          <a:xfrm>
            <a:off x="3850587" y="2607784"/>
            <a:ext cx="3544957" cy="3991799"/>
          </a:xfrm>
          <a:prstGeom prst="rect">
            <a:avLst/>
          </a:prstGeom>
        </p:spPr>
      </p:pic>
      <p:sp>
        <p:nvSpPr>
          <p:cNvPr id="7" name="TextBox 6">
            <a:extLst>
              <a:ext uri="{FF2B5EF4-FFF2-40B4-BE49-F238E27FC236}">
                <a16:creationId xmlns:a16="http://schemas.microsoft.com/office/drawing/2014/main" id="{2E7F8593-69FF-D8D1-88FF-59F65D62C8BA}"/>
              </a:ext>
            </a:extLst>
          </p:cNvPr>
          <p:cNvSpPr txBox="1"/>
          <p:nvPr/>
        </p:nvSpPr>
        <p:spPr>
          <a:xfrm>
            <a:off x="218661" y="678483"/>
            <a:ext cx="11828396" cy="1846659"/>
          </a:xfrm>
          <a:prstGeom prst="rect">
            <a:avLst/>
          </a:prstGeom>
          <a:noFill/>
        </p:spPr>
        <p:txBody>
          <a:bodyPr wrap="square" rtlCol="0">
            <a:spAutoFit/>
          </a:bodyPr>
          <a:lstStyle/>
          <a:p>
            <a:pPr marL="0" indent="0" algn="l">
              <a:buNone/>
            </a:pPr>
            <a:r>
              <a:rPr lang="en-GB" sz="2400" dirty="0">
                <a:latin typeface="BerkeleyStd-Medium"/>
              </a:rPr>
              <a:t>The various possible causal conditions are highly correlated. </a:t>
            </a:r>
          </a:p>
          <a:p>
            <a:pPr marL="0" indent="0" algn="l">
              <a:buNone/>
            </a:pPr>
            <a:r>
              <a:rPr lang="en-GB" sz="2400" dirty="0">
                <a:latin typeface="BerkeleyStd-Medium"/>
              </a:rPr>
              <a:t>We can record similar information about the promotions by separating the four causal mechanisms (price reductions, ads displays, and coupons) into separate dimensions rather than combining them into </a:t>
            </a:r>
            <a:r>
              <a:rPr lang="en-IN" sz="2400" dirty="0">
                <a:latin typeface="BerkeleyStd-Medium"/>
              </a:rPr>
              <a:t>one dimension.</a:t>
            </a:r>
          </a:p>
          <a:p>
            <a:endParaRPr lang="en-IN" dirty="0"/>
          </a:p>
        </p:txBody>
      </p:sp>
    </p:spTree>
    <p:extLst>
      <p:ext uri="{BB962C8B-B14F-4D97-AF65-F5344CB8AC3E}">
        <p14:creationId xmlns:p14="http://schemas.microsoft.com/office/powerpoint/2010/main" val="740694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C8599-64B8-9129-B8C5-8DCF2D53F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D6A63-309F-CD58-187B-7E7F6856BE95}"/>
              </a:ext>
            </a:extLst>
          </p:cNvPr>
          <p:cNvSpPr>
            <a:spLocks noGrp="1"/>
          </p:cNvSpPr>
          <p:nvPr>
            <p:ph type="title"/>
          </p:nvPr>
        </p:nvSpPr>
        <p:spPr>
          <a:xfrm>
            <a:off x="0" y="9939"/>
            <a:ext cx="12047057" cy="668544"/>
          </a:xfrm>
        </p:spPr>
        <p:txBody>
          <a:bodyPr vert="horz" lIns="91440" tIns="45720" rIns="91440" bIns="45720" rtlCol="0" anchor="ctr">
            <a:normAutofit/>
          </a:bodyPr>
          <a:lstStyle/>
          <a:p>
            <a:pPr algn="ctr"/>
            <a:r>
              <a:rPr lang="en-IN" sz="3200" dirty="0">
                <a:latin typeface="StoneSansStd-Medium"/>
              </a:rPr>
              <a:t>Retail Case Study – Promotion Dimensions</a:t>
            </a:r>
          </a:p>
        </p:txBody>
      </p:sp>
      <p:sp>
        <p:nvSpPr>
          <p:cNvPr id="3" name="Content Placeholder 2">
            <a:extLst>
              <a:ext uri="{FF2B5EF4-FFF2-40B4-BE49-F238E27FC236}">
                <a16:creationId xmlns:a16="http://schemas.microsoft.com/office/drawing/2014/main" id="{001539B4-FC6A-D0E4-B7A8-246CAA8D4941}"/>
              </a:ext>
            </a:extLst>
          </p:cNvPr>
          <p:cNvSpPr>
            <a:spLocks noGrp="1"/>
          </p:cNvSpPr>
          <p:nvPr>
            <p:ph idx="1"/>
          </p:nvPr>
        </p:nvSpPr>
        <p:spPr>
          <a:xfrm>
            <a:off x="144943" y="732391"/>
            <a:ext cx="9024730" cy="6072809"/>
          </a:xfrm>
        </p:spPr>
        <p:txBody>
          <a:bodyPr>
            <a:noAutofit/>
          </a:bodyPr>
          <a:lstStyle/>
          <a:p>
            <a:pPr marL="0" indent="0" algn="l">
              <a:buNone/>
            </a:pPr>
            <a:r>
              <a:rPr lang="en-IN" sz="2400" b="0" i="0" u="none" strike="noStrike" baseline="0" dirty="0">
                <a:latin typeface="BerkeleyStd-Medium"/>
              </a:rPr>
              <a:t>The trade-offs </a:t>
            </a:r>
            <a:r>
              <a:rPr lang="en-GB" sz="2400" b="0" i="0" u="none" strike="noStrike" baseline="0" dirty="0">
                <a:latin typeface="BerkeleyStd-Medium"/>
              </a:rPr>
              <a:t>in </a:t>
            </a:r>
            <a:r>
              <a:rPr lang="en-GB" sz="2400" b="0" i="0" u="none" strike="noStrike" baseline="0" dirty="0" err="1">
                <a:latin typeface="BerkeleyStd-Medium"/>
              </a:rPr>
              <a:t>favor</a:t>
            </a:r>
            <a:r>
              <a:rPr lang="en-GB" sz="2400" b="0" i="0" u="none" strike="noStrike" baseline="0" dirty="0">
                <a:latin typeface="BerkeleyStd-Medium"/>
              </a:rPr>
              <a:t> of keeping the four dimensions together include the following:</a:t>
            </a:r>
          </a:p>
          <a:p>
            <a:pPr algn="l"/>
            <a:r>
              <a:rPr lang="en-GB" sz="2400" b="0" i="0" u="none" strike="noStrike" baseline="0" dirty="0">
                <a:latin typeface="BerkeleyStd-Medium"/>
              </a:rPr>
              <a:t>If the four causal mechanisms are highly correlated, the combined single dimension is not much larger than any one of the separated dimensions </a:t>
            </a:r>
            <a:r>
              <a:rPr lang="en-IN" sz="2400" b="0" i="0" u="none" strike="noStrike" baseline="0" dirty="0">
                <a:latin typeface="BerkeleyStd-Medium"/>
              </a:rPr>
              <a:t>would be.</a:t>
            </a:r>
          </a:p>
          <a:p>
            <a:pPr algn="l"/>
            <a:r>
              <a:rPr lang="en-GB" sz="2400" b="0" i="0" u="none" strike="noStrike" baseline="0" dirty="0">
                <a:latin typeface="BerkeleyStd-Medium"/>
              </a:rPr>
              <a:t>The combined single dimension can be browsed efficiently to see how the various promotion conditions like price reductions, ads, displays, and coupons are used together.</a:t>
            </a:r>
          </a:p>
          <a:p>
            <a:pPr algn="l"/>
            <a:endParaRPr lang="en-GB" sz="2400" dirty="0">
              <a:latin typeface="BerkeleyStd-Medium"/>
            </a:endParaRPr>
          </a:p>
          <a:p>
            <a:pPr marL="0" indent="0" algn="l">
              <a:buNone/>
            </a:pPr>
            <a:r>
              <a:rPr lang="en-GB" sz="2400" b="0" i="0" u="none" strike="noStrike" baseline="0" dirty="0">
                <a:latin typeface="BerkeleyStd-Medium"/>
              </a:rPr>
              <a:t>The trade-offs in </a:t>
            </a:r>
            <a:r>
              <a:rPr lang="en-GB" sz="2400" b="0" i="0" u="none" strike="noStrike" baseline="0" dirty="0" err="1">
                <a:latin typeface="BerkeleyStd-Medium"/>
              </a:rPr>
              <a:t>favor</a:t>
            </a:r>
            <a:r>
              <a:rPr lang="en-GB" sz="2400" b="0" i="0" u="none" strike="noStrike" baseline="0" dirty="0">
                <a:latin typeface="BerkeleyStd-Medium"/>
              </a:rPr>
              <a:t> of separating the causal mechanisms into four distinct dimension tables include the following:</a:t>
            </a:r>
            <a:endParaRPr lang="en-GB" sz="2400" dirty="0">
              <a:latin typeface="BerkeleyStd-Medium"/>
            </a:endParaRPr>
          </a:p>
          <a:p>
            <a:pPr algn="l"/>
            <a:r>
              <a:rPr lang="en-GB" sz="2400" b="0" i="0" u="none" strike="noStrike" baseline="0" dirty="0">
                <a:latin typeface="BerkeleyStd-Medium"/>
              </a:rPr>
              <a:t>The separated dimensions may be more understandable to the business community if users think of these mechanisms separately.</a:t>
            </a:r>
          </a:p>
          <a:p>
            <a:pPr algn="l"/>
            <a:r>
              <a:rPr lang="en-GB" sz="2400" b="0" i="0" u="none" strike="noStrike" baseline="0" dirty="0">
                <a:latin typeface="BerkeleyStd-Medium"/>
              </a:rPr>
              <a:t>Administration of the separate dimensions may be more straightforward than </a:t>
            </a:r>
            <a:r>
              <a:rPr lang="en-IN" sz="2400" b="0" i="0" u="none" strike="noStrike" baseline="0" dirty="0">
                <a:latin typeface="BerkeleyStd-Medium"/>
              </a:rPr>
              <a:t>administering a combined dimension.</a:t>
            </a:r>
            <a:endParaRPr lang="en-GB" sz="2400" dirty="0">
              <a:latin typeface="BerkeleyStd-Medium"/>
            </a:endParaRPr>
          </a:p>
        </p:txBody>
      </p:sp>
      <p:pic>
        <p:nvPicPr>
          <p:cNvPr id="5" name="Picture 4">
            <a:extLst>
              <a:ext uri="{FF2B5EF4-FFF2-40B4-BE49-F238E27FC236}">
                <a16:creationId xmlns:a16="http://schemas.microsoft.com/office/drawing/2014/main" id="{70D8BD3F-E4B0-63BB-513C-ACC97B8B1FD8}"/>
              </a:ext>
            </a:extLst>
          </p:cNvPr>
          <p:cNvPicPr>
            <a:picLocks noChangeAspect="1"/>
          </p:cNvPicPr>
          <p:nvPr/>
        </p:nvPicPr>
        <p:blipFill>
          <a:blip r:embed="rId3"/>
          <a:stretch>
            <a:fillRect/>
          </a:stretch>
        </p:blipFill>
        <p:spPr>
          <a:xfrm>
            <a:off x="9169673" y="1176550"/>
            <a:ext cx="2838833" cy="3196668"/>
          </a:xfrm>
          <a:prstGeom prst="rect">
            <a:avLst/>
          </a:prstGeom>
        </p:spPr>
      </p:pic>
    </p:spTree>
    <p:extLst>
      <p:ext uri="{BB962C8B-B14F-4D97-AF65-F5344CB8AC3E}">
        <p14:creationId xmlns:p14="http://schemas.microsoft.com/office/powerpoint/2010/main" val="41150448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8F94D-6FB3-77B6-EF8F-42EDEC353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62FCC-57FE-5C5E-456D-5598474096AB}"/>
              </a:ext>
            </a:extLst>
          </p:cNvPr>
          <p:cNvSpPr>
            <a:spLocks noGrp="1"/>
          </p:cNvSpPr>
          <p:nvPr>
            <p:ph type="title"/>
          </p:nvPr>
        </p:nvSpPr>
        <p:spPr>
          <a:xfrm>
            <a:off x="0" y="9939"/>
            <a:ext cx="12047057" cy="668544"/>
          </a:xfrm>
        </p:spPr>
        <p:txBody>
          <a:bodyPr vert="horz" lIns="91440" tIns="45720" rIns="91440" bIns="45720" rtlCol="0" anchor="ctr">
            <a:normAutofit/>
          </a:bodyPr>
          <a:lstStyle/>
          <a:p>
            <a:pPr algn="ctr"/>
            <a:r>
              <a:rPr lang="en-IN" sz="3200" dirty="0">
                <a:latin typeface="StoneSansStd-Medium"/>
              </a:rPr>
              <a:t>Retail Case Study – Degenerated Dimension</a:t>
            </a:r>
          </a:p>
        </p:txBody>
      </p:sp>
      <p:sp>
        <p:nvSpPr>
          <p:cNvPr id="4" name="TextBox 3">
            <a:extLst>
              <a:ext uri="{FF2B5EF4-FFF2-40B4-BE49-F238E27FC236}">
                <a16:creationId xmlns:a16="http://schemas.microsoft.com/office/drawing/2014/main" id="{F38FE194-9000-775A-26E3-321988DC43F5}"/>
              </a:ext>
            </a:extLst>
          </p:cNvPr>
          <p:cNvSpPr txBox="1"/>
          <p:nvPr/>
        </p:nvSpPr>
        <p:spPr>
          <a:xfrm>
            <a:off x="423239" y="1226260"/>
            <a:ext cx="11768761" cy="1692771"/>
          </a:xfrm>
          <a:prstGeom prst="rect">
            <a:avLst/>
          </a:prstGeom>
          <a:noFill/>
        </p:spPr>
        <p:txBody>
          <a:bodyPr wrap="square">
            <a:spAutoFit/>
          </a:bodyPr>
          <a:lstStyle/>
          <a:p>
            <a:pPr algn="l"/>
            <a:r>
              <a:rPr lang="en-GB" sz="2600" b="0" i="0" u="none" strike="noStrike" baseline="0" dirty="0">
                <a:latin typeface="BerkeleyStd-Medium"/>
              </a:rPr>
              <a:t>The retail sales fact table includes the POS transaction number on every line item</a:t>
            </a:r>
          </a:p>
          <a:p>
            <a:pPr algn="l"/>
            <a:r>
              <a:rPr lang="en-GB" sz="2600" b="0" i="0" u="none" strike="noStrike" baseline="0" dirty="0">
                <a:latin typeface="BerkeleyStd-Medium"/>
              </a:rPr>
              <a:t>row. In an operational parent/child database, the POS transaction number would</a:t>
            </a:r>
          </a:p>
          <a:p>
            <a:pPr algn="l"/>
            <a:r>
              <a:rPr lang="en-GB" sz="2600" b="0" i="0" u="none" strike="noStrike" baseline="0" dirty="0">
                <a:latin typeface="BerkeleyStd-Medium"/>
              </a:rPr>
              <a:t>be the key to the transaction header record, containing all the information valid</a:t>
            </a:r>
          </a:p>
          <a:p>
            <a:pPr algn="l"/>
            <a:r>
              <a:rPr lang="en-GB" sz="2600" b="0" i="0" u="none" strike="noStrike" baseline="0" dirty="0">
                <a:latin typeface="BerkeleyStd-Medium"/>
              </a:rPr>
              <a:t>for the transaction as a whole, such as the transaction date and store identifier.</a:t>
            </a:r>
            <a:endParaRPr lang="en-IN" sz="2600" dirty="0"/>
          </a:p>
        </p:txBody>
      </p:sp>
    </p:spTree>
    <p:extLst>
      <p:ext uri="{BB962C8B-B14F-4D97-AF65-F5344CB8AC3E}">
        <p14:creationId xmlns:p14="http://schemas.microsoft.com/office/powerpoint/2010/main" val="42824515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BE466-5A07-9C0F-8282-9EC695C72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E591C-1C51-FF44-02D9-704E050E7853}"/>
              </a:ext>
            </a:extLst>
          </p:cNvPr>
          <p:cNvSpPr>
            <a:spLocks noGrp="1"/>
          </p:cNvSpPr>
          <p:nvPr>
            <p:ph type="title"/>
          </p:nvPr>
        </p:nvSpPr>
        <p:spPr>
          <a:xfrm>
            <a:off x="0" y="9939"/>
            <a:ext cx="12047057" cy="668544"/>
          </a:xfrm>
        </p:spPr>
        <p:txBody>
          <a:bodyPr vert="horz" lIns="91440" tIns="45720" rIns="91440" bIns="45720" rtlCol="0" anchor="ctr">
            <a:normAutofit/>
          </a:bodyPr>
          <a:lstStyle/>
          <a:p>
            <a:pPr algn="ctr"/>
            <a:r>
              <a:rPr lang="en-IN" sz="3200" dirty="0">
                <a:latin typeface="StoneSansStd-Medium"/>
              </a:rPr>
              <a:t>Retail Case Study – Retail Sales Schema in Action</a:t>
            </a:r>
          </a:p>
        </p:txBody>
      </p:sp>
      <p:pic>
        <p:nvPicPr>
          <p:cNvPr id="8" name="Picture 7">
            <a:extLst>
              <a:ext uri="{FF2B5EF4-FFF2-40B4-BE49-F238E27FC236}">
                <a16:creationId xmlns:a16="http://schemas.microsoft.com/office/drawing/2014/main" id="{6E4FB9CD-E9A9-C6DC-6627-7CF9E06FF46D}"/>
              </a:ext>
            </a:extLst>
          </p:cNvPr>
          <p:cNvPicPr>
            <a:picLocks noChangeAspect="1"/>
          </p:cNvPicPr>
          <p:nvPr/>
        </p:nvPicPr>
        <p:blipFill>
          <a:blip r:embed="rId3"/>
          <a:stretch>
            <a:fillRect/>
          </a:stretch>
        </p:blipFill>
        <p:spPr>
          <a:xfrm>
            <a:off x="144943" y="678483"/>
            <a:ext cx="6721422" cy="3696020"/>
          </a:xfrm>
          <a:prstGeom prst="rect">
            <a:avLst/>
          </a:prstGeom>
        </p:spPr>
      </p:pic>
      <p:pic>
        <p:nvPicPr>
          <p:cNvPr id="10" name="Picture 9">
            <a:extLst>
              <a:ext uri="{FF2B5EF4-FFF2-40B4-BE49-F238E27FC236}">
                <a16:creationId xmlns:a16="http://schemas.microsoft.com/office/drawing/2014/main" id="{50FAFCAB-00BB-7FDE-A603-5372B9B90543}"/>
              </a:ext>
            </a:extLst>
          </p:cNvPr>
          <p:cNvPicPr>
            <a:picLocks noChangeAspect="1"/>
          </p:cNvPicPr>
          <p:nvPr/>
        </p:nvPicPr>
        <p:blipFill>
          <a:blip r:embed="rId4"/>
          <a:stretch>
            <a:fillRect/>
          </a:stretch>
        </p:blipFill>
        <p:spPr>
          <a:xfrm>
            <a:off x="6209782" y="4061218"/>
            <a:ext cx="5982218" cy="2796782"/>
          </a:xfrm>
          <a:prstGeom prst="rect">
            <a:avLst/>
          </a:prstGeom>
        </p:spPr>
      </p:pic>
    </p:spTree>
    <p:extLst>
      <p:ext uri="{BB962C8B-B14F-4D97-AF65-F5344CB8AC3E}">
        <p14:creationId xmlns:p14="http://schemas.microsoft.com/office/powerpoint/2010/main" val="36517885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ECC56-94C1-210F-99F4-00C444D067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01E73-3F29-CEF8-9D3E-15ADFD5C82FF}"/>
              </a:ext>
            </a:extLst>
          </p:cNvPr>
          <p:cNvSpPr>
            <a:spLocks noGrp="1"/>
          </p:cNvSpPr>
          <p:nvPr>
            <p:ph type="title"/>
          </p:nvPr>
        </p:nvSpPr>
        <p:spPr>
          <a:xfrm>
            <a:off x="0" y="9939"/>
            <a:ext cx="12047057" cy="668544"/>
          </a:xfrm>
        </p:spPr>
        <p:txBody>
          <a:bodyPr vert="horz" lIns="91440" tIns="45720" rIns="91440" bIns="45720" rtlCol="0" anchor="ctr">
            <a:normAutofit/>
          </a:bodyPr>
          <a:lstStyle/>
          <a:p>
            <a:pPr algn="ctr"/>
            <a:r>
              <a:rPr lang="en-IN" sz="3200" dirty="0">
                <a:latin typeface="StoneSansStd-Medium"/>
              </a:rPr>
              <a:t>Retail Case Study – </a:t>
            </a:r>
            <a:r>
              <a:rPr lang="en-IN" sz="3200" dirty="0" err="1">
                <a:latin typeface="StoneSansStd-Medium"/>
              </a:rPr>
              <a:t>Factless</a:t>
            </a:r>
            <a:r>
              <a:rPr lang="en-IN" sz="3200" dirty="0">
                <a:latin typeface="StoneSansStd-Medium"/>
              </a:rPr>
              <a:t> Fact</a:t>
            </a:r>
          </a:p>
        </p:txBody>
      </p:sp>
      <p:sp>
        <p:nvSpPr>
          <p:cNvPr id="4" name="TextBox 3">
            <a:extLst>
              <a:ext uri="{FF2B5EF4-FFF2-40B4-BE49-F238E27FC236}">
                <a16:creationId xmlns:a16="http://schemas.microsoft.com/office/drawing/2014/main" id="{823E6765-4628-53FF-BFDB-F5B5C7B27B85}"/>
              </a:ext>
            </a:extLst>
          </p:cNvPr>
          <p:cNvSpPr txBox="1"/>
          <p:nvPr/>
        </p:nvSpPr>
        <p:spPr>
          <a:xfrm>
            <a:off x="144944" y="575676"/>
            <a:ext cx="11902114" cy="3416320"/>
          </a:xfrm>
          <a:prstGeom prst="rect">
            <a:avLst/>
          </a:prstGeom>
          <a:noFill/>
        </p:spPr>
        <p:txBody>
          <a:bodyPr wrap="square">
            <a:spAutoFit/>
          </a:bodyPr>
          <a:lstStyle/>
          <a:p>
            <a:r>
              <a:rPr lang="en-GB" sz="2400" b="0" i="0" u="none" strike="noStrike" baseline="0" dirty="0">
                <a:latin typeface="BerkeleyStd-Medium"/>
              </a:rPr>
              <a:t>What products were on promotion but did not sell?</a:t>
            </a:r>
          </a:p>
          <a:p>
            <a:endParaRPr lang="en-GB" sz="2400" dirty="0">
              <a:latin typeface="BerkeleyStd-Medium"/>
            </a:endParaRPr>
          </a:p>
          <a:p>
            <a:pPr algn="l"/>
            <a:r>
              <a:rPr lang="en-GB" sz="2400" dirty="0">
                <a:latin typeface="BerkeleyStd-Medium"/>
              </a:rPr>
              <a:t>A</a:t>
            </a:r>
            <a:r>
              <a:rPr lang="en-GB" sz="2400" b="0" i="0" u="none" strike="noStrike" baseline="0" dirty="0">
                <a:latin typeface="BerkeleyStd-Medium"/>
              </a:rPr>
              <a:t> promotion coverage or event fact table is needed to answer the question concerning what didn’t happen</a:t>
            </a:r>
          </a:p>
          <a:p>
            <a:pPr algn="l"/>
            <a:r>
              <a:rPr lang="en-IN" sz="2400" b="0" i="0" u="none" strike="noStrike" baseline="0" dirty="0">
                <a:latin typeface="BerkeleyStd-Medium"/>
              </a:rPr>
              <a:t>This fact </a:t>
            </a:r>
            <a:r>
              <a:rPr lang="en-GB" sz="2400" b="0" i="0" u="none" strike="noStrike" baseline="0" dirty="0">
                <a:latin typeface="BerkeleyStd-Medium"/>
              </a:rPr>
              <a:t>looks similar to the sales fact table; however, the grain would be signifi</a:t>
            </a:r>
            <a:r>
              <a:rPr lang="en-GB" sz="2400" dirty="0">
                <a:latin typeface="BerkeleyStd-Medium"/>
              </a:rPr>
              <a:t>c</a:t>
            </a:r>
            <a:r>
              <a:rPr lang="en-GB" sz="2400" b="0" i="0" u="none" strike="noStrike" baseline="0" dirty="0">
                <a:latin typeface="BerkeleyStd-Medium"/>
              </a:rPr>
              <a:t>antly different. </a:t>
            </a:r>
          </a:p>
          <a:p>
            <a:pPr algn="l"/>
            <a:r>
              <a:rPr lang="en-GB" sz="2400" b="0" i="0" u="none" strike="noStrike" baseline="0" dirty="0">
                <a:latin typeface="BerkeleyStd-Medium"/>
              </a:rPr>
              <a:t>In the case of the promotion coverage fact table, we’d load one row for each product on promotion in a store each day (or week, if retail promotions are a week in duration) regardless of whether the product sold.</a:t>
            </a:r>
            <a:endParaRPr lang="en-IN" sz="2400" dirty="0"/>
          </a:p>
        </p:txBody>
      </p:sp>
      <p:pic>
        <p:nvPicPr>
          <p:cNvPr id="6" name="Picture 5">
            <a:extLst>
              <a:ext uri="{FF2B5EF4-FFF2-40B4-BE49-F238E27FC236}">
                <a16:creationId xmlns:a16="http://schemas.microsoft.com/office/drawing/2014/main" id="{9761B4F8-F500-E3A0-B77B-F340E1943D6E}"/>
              </a:ext>
            </a:extLst>
          </p:cNvPr>
          <p:cNvPicPr>
            <a:picLocks noChangeAspect="1"/>
          </p:cNvPicPr>
          <p:nvPr/>
        </p:nvPicPr>
        <p:blipFill>
          <a:blip r:embed="rId3"/>
          <a:stretch>
            <a:fillRect/>
          </a:stretch>
        </p:blipFill>
        <p:spPr>
          <a:xfrm>
            <a:off x="5394015" y="3558254"/>
            <a:ext cx="6492803" cy="3299746"/>
          </a:xfrm>
          <a:prstGeom prst="rect">
            <a:avLst/>
          </a:prstGeom>
        </p:spPr>
      </p:pic>
    </p:spTree>
    <p:extLst>
      <p:ext uri="{BB962C8B-B14F-4D97-AF65-F5344CB8AC3E}">
        <p14:creationId xmlns:p14="http://schemas.microsoft.com/office/powerpoint/2010/main" val="37191575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5F0E0-FCF9-A3AA-0D91-D1D8F4D4F9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A5018A-B7B1-0070-61AE-3E7FCE84934B}"/>
              </a:ext>
            </a:extLst>
          </p:cNvPr>
          <p:cNvSpPr>
            <a:spLocks noGrp="1"/>
          </p:cNvSpPr>
          <p:nvPr>
            <p:ph type="title"/>
          </p:nvPr>
        </p:nvSpPr>
        <p:spPr>
          <a:xfrm>
            <a:off x="0" y="9939"/>
            <a:ext cx="12047057" cy="668544"/>
          </a:xfrm>
        </p:spPr>
        <p:txBody>
          <a:bodyPr vert="horz" lIns="91440" tIns="45720" rIns="91440" bIns="45720" rtlCol="0" anchor="ctr">
            <a:normAutofit/>
          </a:bodyPr>
          <a:lstStyle/>
          <a:p>
            <a:pPr algn="ctr"/>
            <a:r>
              <a:rPr lang="en-IN" sz="3200" dirty="0">
                <a:latin typeface="StoneSansStd-Medium"/>
              </a:rPr>
              <a:t>Dimension Surrogate Key</a:t>
            </a:r>
          </a:p>
        </p:txBody>
      </p:sp>
      <p:sp>
        <p:nvSpPr>
          <p:cNvPr id="4" name="TextBox 3">
            <a:extLst>
              <a:ext uri="{FF2B5EF4-FFF2-40B4-BE49-F238E27FC236}">
                <a16:creationId xmlns:a16="http://schemas.microsoft.com/office/drawing/2014/main" id="{BDF6263A-603F-401A-8018-511A2F18C285}"/>
              </a:ext>
            </a:extLst>
          </p:cNvPr>
          <p:cNvSpPr txBox="1"/>
          <p:nvPr/>
        </p:nvSpPr>
        <p:spPr>
          <a:xfrm>
            <a:off x="424896" y="918796"/>
            <a:ext cx="11005103" cy="4154984"/>
          </a:xfrm>
          <a:prstGeom prst="rect">
            <a:avLst/>
          </a:prstGeom>
          <a:noFill/>
        </p:spPr>
        <p:txBody>
          <a:bodyPr wrap="square">
            <a:spAutoFit/>
          </a:bodyPr>
          <a:lstStyle/>
          <a:p>
            <a:pPr algn="l"/>
            <a:r>
              <a:rPr lang="en-GB" sz="2400" dirty="0">
                <a:latin typeface="BerkeleyStd-Medium"/>
              </a:rPr>
              <a:t>The unique primary key of a dimension table should be a surrogate key rather than</a:t>
            </a:r>
          </a:p>
          <a:p>
            <a:pPr algn="l"/>
            <a:r>
              <a:rPr lang="en-GB" sz="2400" dirty="0">
                <a:latin typeface="BerkeleyStd-Medium"/>
              </a:rPr>
              <a:t>relying on the operational system identifier, known as the natural key. </a:t>
            </a:r>
          </a:p>
          <a:p>
            <a:pPr algn="l"/>
            <a:endParaRPr lang="en-GB" sz="2400" dirty="0">
              <a:latin typeface="BerkeleyStd-Medium"/>
            </a:endParaRPr>
          </a:p>
          <a:p>
            <a:pPr algn="l"/>
            <a:r>
              <a:rPr lang="en-GB" sz="2400" dirty="0">
                <a:latin typeface="BerkeleyStd-Medium"/>
              </a:rPr>
              <a:t>Surrogate keys go by many other aliases: meaningless keys, integer keys, non-natural keys, </a:t>
            </a:r>
            <a:r>
              <a:rPr lang="en-GB" sz="2400" dirty="0" err="1">
                <a:latin typeface="BerkeleyStd-Medium"/>
              </a:rPr>
              <a:t>artifi</a:t>
            </a:r>
            <a:r>
              <a:rPr lang="en-GB" sz="2400" dirty="0">
                <a:latin typeface="BerkeleyStd-Medium"/>
              </a:rPr>
              <a:t> </a:t>
            </a:r>
            <a:r>
              <a:rPr lang="en-GB" sz="2400" dirty="0" err="1">
                <a:latin typeface="BerkeleyStd-Medium"/>
              </a:rPr>
              <a:t>cial</a:t>
            </a:r>
            <a:r>
              <a:rPr lang="en-GB" sz="2400" dirty="0">
                <a:latin typeface="BerkeleyStd-Medium"/>
              </a:rPr>
              <a:t> keys, and synthetic keys. </a:t>
            </a:r>
          </a:p>
          <a:p>
            <a:pPr algn="l"/>
            <a:endParaRPr lang="en-GB" sz="2400" dirty="0">
              <a:latin typeface="BerkeleyStd-Medium"/>
            </a:endParaRPr>
          </a:p>
          <a:p>
            <a:pPr algn="l"/>
            <a:r>
              <a:rPr lang="en-GB" sz="2400" dirty="0">
                <a:latin typeface="BerkeleyStd-Medium"/>
              </a:rPr>
              <a:t>Surrogate keys are simply integers that are assigned sequentially as needed to populate a dimension.</a:t>
            </a:r>
          </a:p>
          <a:p>
            <a:pPr algn="l"/>
            <a:endParaRPr lang="en-GB" sz="2400" dirty="0">
              <a:latin typeface="BerkeleyStd-Medium"/>
            </a:endParaRPr>
          </a:p>
          <a:p>
            <a:pPr algn="l"/>
            <a:r>
              <a:rPr lang="en-GB" sz="2400" dirty="0">
                <a:latin typeface="BerkeleyStd-Medium"/>
              </a:rPr>
              <a:t>Every join between dimension and fact tables in the data warehouse should be based on meaningless integer surrogate keys</a:t>
            </a:r>
            <a:endParaRPr lang="en-IN" sz="2400" dirty="0">
              <a:latin typeface="BerkeleyStd-Medium"/>
            </a:endParaRPr>
          </a:p>
        </p:txBody>
      </p:sp>
    </p:spTree>
    <p:extLst>
      <p:ext uri="{BB962C8B-B14F-4D97-AF65-F5344CB8AC3E}">
        <p14:creationId xmlns:p14="http://schemas.microsoft.com/office/powerpoint/2010/main" val="32575887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B3536-8055-31C0-5402-B4B345283E3D}"/>
              </a:ext>
            </a:extLst>
          </p:cNvPr>
          <p:cNvSpPr>
            <a:spLocks noGrp="1"/>
          </p:cNvSpPr>
          <p:nvPr>
            <p:ph type="title"/>
          </p:nvPr>
        </p:nvSpPr>
        <p:spPr>
          <a:xfrm>
            <a:off x="838200" y="216039"/>
            <a:ext cx="10515600" cy="807692"/>
          </a:xfrm>
        </p:spPr>
        <p:txBody>
          <a:bodyPr/>
          <a:lstStyle/>
          <a:p>
            <a:r>
              <a:rPr lang="en-IN" sz="4400" dirty="0">
                <a:latin typeface="StoneSansStd-Medium"/>
              </a:rPr>
              <a:t>Dimension Surrogate Key</a:t>
            </a:r>
            <a:endParaRPr lang="en-IN" dirty="0"/>
          </a:p>
        </p:txBody>
      </p:sp>
      <p:sp>
        <p:nvSpPr>
          <p:cNvPr id="3" name="Content Placeholder 2">
            <a:extLst>
              <a:ext uri="{FF2B5EF4-FFF2-40B4-BE49-F238E27FC236}">
                <a16:creationId xmlns:a16="http://schemas.microsoft.com/office/drawing/2014/main" id="{615B8D42-BE4A-88D0-136F-E449A3803807}"/>
              </a:ext>
            </a:extLst>
          </p:cNvPr>
          <p:cNvSpPr>
            <a:spLocks noGrp="1"/>
          </p:cNvSpPr>
          <p:nvPr>
            <p:ph idx="1"/>
          </p:nvPr>
        </p:nvSpPr>
        <p:spPr>
          <a:xfrm>
            <a:off x="258417" y="1023731"/>
            <a:ext cx="11675166" cy="5280854"/>
          </a:xfrm>
        </p:spPr>
        <p:txBody>
          <a:bodyPr>
            <a:normAutofit/>
          </a:bodyPr>
          <a:lstStyle/>
          <a:p>
            <a:pPr marL="0" indent="0" algn="l">
              <a:buNone/>
            </a:pPr>
            <a:r>
              <a:rPr lang="en-GB" sz="2400" dirty="0">
                <a:latin typeface="BerkeleyStd-Medium"/>
              </a:rPr>
              <a:t>Buffer the data warehouse from operational changes. Surrogate keys enable the warehouse team to maintain control of the DW/BI environment rather than being whipsawed by operational rules for generating, updating, deleting, recycling, and reusing production codes.</a:t>
            </a:r>
          </a:p>
          <a:p>
            <a:pPr marL="0" indent="0" algn="l">
              <a:buNone/>
            </a:pPr>
            <a:r>
              <a:rPr lang="en-GB" sz="2400" dirty="0">
                <a:latin typeface="BerkeleyStd-Medium"/>
              </a:rPr>
              <a:t>Integrate multiple source systems. Surrogate keys enable the data warehouse team to integrate data from multiple operational source system</a:t>
            </a:r>
          </a:p>
          <a:p>
            <a:pPr marL="0" indent="0" algn="l">
              <a:buNone/>
            </a:pPr>
            <a:r>
              <a:rPr lang="en-GB" sz="2400" dirty="0">
                <a:latin typeface="BerkeleyStd-Medium"/>
              </a:rPr>
              <a:t>Improve performance. The surrogate key is as small an integer as possible while ensuring it will comfortably accommodate the future anticipated cardinality (number of rows in the dimension).</a:t>
            </a:r>
          </a:p>
          <a:p>
            <a:pPr marL="0" indent="0" algn="l">
              <a:buNone/>
            </a:pPr>
            <a:r>
              <a:rPr lang="en-GB" sz="2400" dirty="0">
                <a:latin typeface="BerkeleyStd-Medium"/>
              </a:rPr>
              <a:t>Handle null or unknown conditions. As mentioned earlier, special surrogate key values are used to record dimension conditions that may not have an operational code, such as the No Promotion condition or the anonymous </a:t>
            </a:r>
            <a:r>
              <a:rPr lang="en-IN" sz="2400" dirty="0">
                <a:latin typeface="BerkeleyStd-Medium"/>
              </a:rPr>
              <a:t>customer.</a:t>
            </a:r>
          </a:p>
          <a:p>
            <a:pPr marL="0" indent="0" algn="l">
              <a:buNone/>
            </a:pPr>
            <a:r>
              <a:rPr lang="en-GB" sz="2400" dirty="0">
                <a:latin typeface="BerkeleyStd-Medium"/>
              </a:rPr>
              <a:t>Handle null or unknown conditions. As mentioned earlier, special surrogate key values are used to record dimension conditions that may not have an operational code, such as the No Promotion condition or the anonymous </a:t>
            </a:r>
            <a:r>
              <a:rPr lang="en-IN" sz="2400" dirty="0">
                <a:latin typeface="BerkeleyStd-Medium"/>
              </a:rPr>
              <a:t>customer.</a:t>
            </a:r>
            <a:endParaRPr lang="en-GB" sz="2400" dirty="0">
              <a:latin typeface="BerkeleyStd-Medium"/>
            </a:endParaRPr>
          </a:p>
          <a:p>
            <a:pPr marL="0" indent="0" algn="l">
              <a:buNone/>
            </a:pPr>
            <a:endParaRPr lang="en-IN" dirty="0"/>
          </a:p>
        </p:txBody>
      </p:sp>
    </p:spTree>
    <p:extLst>
      <p:ext uri="{BB962C8B-B14F-4D97-AF65-F5344CB8AC3E}">
        <p14:creationId xmlns:p14="http://schemas.microsoft.com/office/powerpoint/2010/main" val="2491744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D6C14-9820-5C77-559B-1F1D412FC309}"/>
              </a:ext>
            </a:extLst>
          </p:cNvPr>
          <p:cNvSpPr>
            <a:spLocks noGrp="1"/>
          </p:cNvSpPr>
          <p:nvPr>
            <p:ph type="title"/>
          </p:nvPr>
        </p:nvSpPr>
        <p:spPr>
          <a:xfrm>
            <a:off x="198782" y="315431"/>
            <a:ext cx="11797747" cy="1006474"/>
          </a:xfrm>
        </p:spPr>
        <p:txBody>
          <a:bodyPr/>
          <a:lstStyle/>
          <a:p>
            <a:r>
              <a:rPr lang="en-IN" dirty="0">
                <a:latin typeface="StoneSansStd-Medium"/>
              </a:rPr>
              <a:t>Dimension Natural and Durable Supernatural Keys</a:t>
            </a:r>
          </a:p>
        </p:txBody>
      </p:sp>
      <p:sp>
        <p:nvSpPr>
          <p:cNvPr id="3" name="Content Placeholder 2">
            <a:extLst>
              <a:ext uri="{FF2B5EF4-FFF2-40B4-BE49-F238E27FC236}">
                <a16:creationId xmlns:a16="http://schemas.microsoft.com/office/drawing/2014/main" id="{5F7BF530-5610-9CBC-675E-46A01B291E7F}"/>
              </a:ext>
            </a:extLst>
          </p:cNvPr>
          <p:cNvSpPr>
            <a:spLocks noGrp="1"/>
          </p:cNvSpPr>
          <p:nvPr>
            <p:ph idx="1"/>
          </p:nvPr>
        </p:nvSpPr>
        <p:spPr>
          <a:xfrm>
            <a:off x="437321" y="1517511"/>
            <a:ext cx="11340549" cy="4644749"/>
          </a:xfrm>
        </p:spPr>
        <p:txBody>
          <a:bodyPr/>
          <a:lstStyle/>
          <a:p>
            <a:pPr marL="0" indent="0" algn="l">
              <a:buNone/>
            </a:pPr>
            <a:r>
              <a:rPr lang="en-GB" sz="2400" dirty="0">
                <a:latin typeface="BerkeleyStd-Medium"/>
              </a:rPr>
              <a:t>The natural keys assigned and used by operational source systems go by other names, such as business keys, production keys, and operational </a:t>
            </a:r>
            <a:r>
              <a:rPr lang="en-IN" sz="2400" dirty="0">
                <a:latin typeface="BerkeleyStd-Medium"/>
              </a:rPr>
              <a:t>Keys the natural key comes </a:t>
            </a:r>
            <a:r>
              <a:rPr lang="en-GB" sz="2400" dirty="0">
                <a:latin typeface="BerkeleyStd-Medium"/>
              </a:rPr>
              <a:t>from multiple sources, you might use a character data type that prepends a source code, such as SAP|43251 or CRM|6539152.</a:t>
            </a:r>
            <a:endParaRPr lang="en-IN" sz="2400" dirty="0">
              <a:latin typeface="BerkeleyStd-Medium"/>
            </a:endParaRPr>
          </a:p>
          <a:p>
            <a:pPr marL="0" indent="0" algn="l">
              <a:buNone/>
            </a:pPr>
            <a:r>
              <a:rPr lang="en-GB" sz="2400" dirty="0">
                <a:latin typeface="BerkeleyStd-Medium"/>
              </a:rPr>
              <a:t>In a dimension table with attribute change tracking, it’s important to have an identifier that uniquely and reliably identifies the dimension entity across its attribute </a:t>
            </a:r>
            <a:r>
              <a:rPr lang="en-IN" sz="2400" dirty="0">
                <a:latin typeface="BerkeleyStd-Medium"/>
              </a:rPr>
              <a:t>changes.</a:t>
            </a:r>
          </a:p>
        </p:txBody>
      </p:sp>
    </p:spTree>
    <p:extLst>
      <p:ext uri="{BB962C8B-B14F-4D97-AF65-F5344CB8AC3E}">
        <p14:creationId xmlns:p14="http://schemas.microsoft.com/office/powerpoint/2010/main" val="2367414603"/>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A6B76-B7A0-2DBF-26B0-76F2F52A9234}"/>
              </a:ext>
            </a:extLst>
          </p:cNvPr>
          <p:cNvSpPr>
            <a:spLocks noGrp="1"/>
          </p:cNvSpPr>
          <p:nvPr>
            <p:ph type="title"/>
          </p:nvPr>
        </p:nvSpPr>
        <p:spPr>
          <a:xfrm>
            <a:off x="838200" y="305490"/>
            <a:ext cx="10515600" cy="668545"/>
          </a:xfrm>
        </p:spPr>
        <p:txBody>
          <a:bodyPr>
            <a:normAutofit fontScale="90000"/>
          </a:bodyPr>
          <a:lstStyle/>
          <a:p>
            <a:pPr algn="ctr"/>
            <a:r>
              <a:rPr lang="en-IN" dirty="0" err="1">
                <a:latin typeface="StoneSansStd-Medium"/>
              </a:rPr>
              <a:t>SnowFlake</a:t>
            </a:r>
            <a:r>
              <a:rPr lang="en-IN" dirty="0">
                <a:latin typeface="StoneSansStd-Medium"/>
              </a:rPr>
              <a:t> Dimension and </a:t>
            </a:r>
            <a:r>
              <a:rPr lang="en-IN" dirty="0" err="1">
                <a:latin typeface="StoneSansStd-Medium"/>
              </a:rPr>
              <a:t>Outtrigger</a:t>
            </a:r>
            <a:endParaRPr lang="en-IN" dirty="0">
              <a:latin typeface="StoneSansStd-Medium"/>
            </a:endParaRPr>
          </a:p>
        </p:txBody>
      </p:sp>
      <p:sp>
        <p:nvSpPr>
          <p:cNvPr id="5" name="TextBox 4">
            <a:extLst>
              <a:ext uri="{FF2B5EF4-FFF2-40B4-BE49-F238E27FC236}">
                <a16:creationId xmlns:a16="http://schemas.microsoft.com/office/drawing/2014/main" id="{59E59398-DA6A-4404-829A-C31255724A9B}"/>
              </a:ext>
            </a:extLst>
          </p:cNvPr>
          <p:cNvSpPr txBox="1"/>
          <p:nvPr/>
        </p:nvSpPr>
        <p:spPr>
          <a:xfrm>
            <a:off x="447261" y="1089274"/>
            <a:ext cx="11529391" cy="5262979"/>
          </a:xfrm>
          <a:prstGeom prst="rect">
            <a:avLst/>
          </a:prstGeom>
          <a:noFill/>
        </p:spPr>
        <p:txBody>
          <a:bodyPr wrap="square">
            <a:spAutoFit/>
          </a:bodyPr>
          <a:lstStyle/>
          <a:p>
            <a:pPr algn="l"/>
            <a:r>
              <a:rPr lang="en-GB" sz="2400" b="0" i="0" u="none" strike="noStrike" baseline="0" dirty="0">
                <a:latin typeface="BerkeleyStd-Medium"/>
              </a:rPr>
              <a:t>The flattened, denormalized dimension tables with repeating textual values make data modelers from the operational world uncomfortable. </a:t>
            </a:r>
          </a:p>
          <a:p>
            <a:pPr algn="l"/>
            <a:endParaRPr lang="en-GB" sz="2400" b="0" i="0" u="none" strike="noStrike" baseline="0" dirty="0">
              <a:latin typeface="BerkeleyStd-Medium"/>
            </a:endParaRPr>
          </a:p>
          <a:p>
            <a:pPr algn="l"/>
            <a:r>
              <a:rPr lang="en-GB" sz="2400" b="0" i="0" u="none" strike="noStrike" baseline="0" dirty="0">
                <a:latin typeface="BerkeleyStd-Medium"/>
              </a:rPr>
              <a:t>In product dimension table. The 300,000 products roll up into 50 distinct departments.</a:t>
            </a:r>
          </a:p>
          <a:p>
            <a:pPr algn="l"/>
            <a:endParaRPr lang="en-GB" sz="2400" b="0" i="0" u="none" strike="noStrike" baseline="0" dirty="0">
              <a:latin typeface="BerkeleyStd-Medium"/>
            </a:endParaRPr>
          </a:p>
          <a:p>
            <a:pPr algn="l"/>
            <a:r>
              <a:rPr lang="en-GB" sz="2400" b="0" i="0" u="none" strike="noStrike" baseline="0" dirty="0">
                <a:latin typeface="BerkeleyStd-Medium"/>
              </a:rPr>
              <a:t>Rather than redundantly storing the 20-byte department description in the product dimension table, modelers with a normalized upbringing want to store a 2-byte department code and then create a new department dimension for the department decodes. </a:t>
            </a:r>
          </a:p>
          <a:p>
            <a:pPr algn="l"/>
            <a:endParaRPr lang="en-GB" sz="2400" dirty="0">
              <a:latin typeface="BerkeleyStd-Medium"/>
            </a:endParaRPr>
          </a:p>
          <a:p>
            <a:pPr algn="l"/>
            <a:r>
              <a:rPr lang="en-GB" sz="2400" b="0" i="0" u="none" strike="noStrike" baseline="0" dirty="0">
                <a:latin typeface="BerkeleyStd-Medium"/>
              </a:rPr>
              <a:t>In fact, they would feel more comfortable if all the descriptors in the original design were normalized into separate dimension tables. </a:t>
            </a:r>
          </a:p>
          <a:p>
            <a:pPr algn="l"/>
            <a:endParaRPr lang="en-GB" sz="2400" dirty="0">
              <a:latin typeface="BerkeleyStd-Medium"/>
            </a:endParaRPr>
          </a:p>
          <a:p>
            <a:pPr algn="l"/>
            <a:r>
              <a:rPr lang="en-GB" sz="2400" b="0" i="0" u="none" strike="noStrike" baseline="0" dirty="0">
                <a:latin typeface="BerkeleyStd-Medium"/>
              </a:rPr>
              <a:t>They argue this design saves space because the 300,000-row dimension table only contains codes, </a:t>
            </a:r>
            <a:r>
              <a:rPr lang="en-IN" sz="2400" b="0" i="0" u="none" strike="noStrike" baseline="0" dirty="0">
                <a:latin typeface="BerkeleyStd-Medium"/>
              </a:rPr>
              <a:t>not lengthy descriptors.</a:t>
            </a:r>
            <a:endParaRPr lang="en-IN" sz="2400" dirty="0"/>
          </a:p>
        </p:txBody>
      </p:sp>
    </p:spTree>
    <p:extLst>
      <p:ext uri="{BB962C8B-B14F-4D97-AF65-F5344CB8AC3E}">
        <p14:creationId xmlns:p14="http://schemas.microsoft.com/office/powerpoint/2010/main" val="4682144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26B38-94DE-23CF-1C92-14FEDAE27F88}"/>
              </a:ext>
            </a:extLst>
          </p:cNvPr>
          <p:cNvSpPr>
            <a:spLocks noGrp="1"/>
          </p:cNvSpPr>
          <p:nvPr>
            <p:ph type="title"/>
          </p:nvPr>
        </p:nvSpPr>
        <p:spPr>
          <a:xfrm>
            <a:off x="1613451" y="335308"/>
            <a:ext cx="9230140" cy="430005"/>
          </a:xfrm>
        </p:spPr>
        <p:txBody>
          <a:bodyPr>
            <a:normAutofit fontScale="90000"/>
          </a:bodyPr>
          <a:lstStyle/>
          <a:p>
            <a:pPr algn="ctr"/>
            <a:r>
              <a:rPr lang="en-IN" dirty="0" err="1">
                <a:latin typeface="StoneSansStd-Medium"/>
              </a:rPr>
              <a:t>SnowFlake</a:t>
            </a:r>
            <a:r>
              <a:rPr lang="en-IN" dirty="0">
                <a:latin typeface="StoneSansStd-Medium"/>
              </a:rPr>
              <a:t> Dimension</a:t>
            </a:r>
            <a:endParaRPr lang="en-IN" dirty="0"/>
          </a:p>
        </p:txBody>
      </p:sp>
      <p:sp>
        <p:nvSpPr>
          <p:cNvPr id="5" name="TextBox 4">
            <a:extLst>
              <a:ext uri="{FF2B5EF4-FFF2-40B4-BE49-F238E27FC236}">
                <a16:creationId xmlns:a16="http://schemas.microsoft.com/office/drawing/2014/main" id="{8F9566D6-5B2A-C1B1-17C9-AB9ACF8925EF}"/>
              </a:ext>
            </a:extLst>
          </p:cNvPr>
          <p:cNvSpPr txBox="1"/>
          <p:nvPr/>
        </p:nvSpPr>
        <p:spPr>
          <a:xfrm>
            <a:off x="727627" y="1095757"/>
            <a:ext cx="10736746" cy="1200329"/>
          </a:xfrm>
          <a:prstGeom prst="rect">
            <a:avLst/>
          </a:prstGeom>
          <a:noFill/>
        </p:spPr>
        <p:txBody>
          <a:bodyPr wrap="square">
            <a:spAutoFit/>
          </a:bodyPr>
          <a:lstStyle/>
          <a:p>
            <a:pPr algn="l"/>
            <a:r>
              <a:rPr lang="en-GB" sz="2400" b="0" i="0" u="none" strike="noStrike" baseline="0" dirty="0"/>
              <a:t>Dimension table normalization is referred to as </a:t>
            </a:r>
            <a:r>
              <a:rPr lang="en-GB" sz="2400" b="0" i="1" u="none" strike="noStrike" baseline="0" dirty="0"/>
              <a:t>snowflaking</a:t>
            </a:r>
            <a:r>
              <a:rPr lang="en-GB" sz="2400" b="0" i="0" u="none" strike="noStrike" baseline="0" dirty="0"/>
              <a:t>. Redundant attributes are removed from the flat, denormalized dimension table and placed in separate </a:t>
            </a:r>
            <a:r>
              <a:rPr lang="en-IN" sz="2400" b="0" i="0" u="none" strike="noStrike" baseline="0" dirty="0"/>
              <a:t>normalized dimension tables.</a:t>
            </a:r>
            <a:endParaRPr lang="en-IN" sz="2400" dirty="0"/>
          </a:p>
        </p:txBody>
      </p:sp>
      <p:pic>
        <p:nvPicPr>
          <p:cNvPr id="7" name="Picture 6">
            <a:extLst>
              <a:ext uri="{FF2B5EF4-FFF2-40B4-BE49-F238E27FC236}">
                <a16:creationId xmlns:a16="http://schemas.microsoft.com/office/drawing/2014/main" id="{13603A2A-8000-3120-7497-AE3889905E71}"/>
              </a:ext>
            </a:extLst>
          </p:cNvPr>
          <p:cNvPicPr>
            <a:picLocks noChangeAspect="1"/>
          </p:cNvPicPr>
          <p:nvPr/>
        </p:nvPicPr>
        <p:blipFill>
          <a:blip r:embed="rId2"/>
          <a:stretch>
            <a:fillRect/>
          </a:stretch>
        </p:blipFill>
        <p:spPr>
          <a:xfrm>
            <a:off x="2652586" y="2626530"/>
            <a:ext cx="7267837" cy="3358840"/>
          </a:xfrm>
          <a:prstGeom prst="rect">
            <a:avLst/>
          </a:prstGeom>
        </p:spPr>
      </p:pic>
    </p:spTree>
    <p:extLst>
      <p:ext uri="{BB962C8B-B14F-4D97-AF65-F5344CB8AC3E}">
        <p14:creationId xmlns:p14="http://schemas.microsoft.com/office/powerpoint/2010/main" val="28653739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3087-6AE5-6335-15C7-D4C1FC842783}"/>
              </a:ext>
            </a:extLst>
          </p:cNvPr>
          <p:cNvSpPr>
            <a:spLocks noGrp="1"/>
          </p:cNvSpPr>
          <p:nvPr>
            <p:ph type="title"/>
          </p:nvPr>
        </p:nvSpPr>
        <p:spPr>
          <a:xfrm>
            <a:off x="929308" y="166343"/>
            <a:ext cx="10515600" cy="946840"/>
          </a:xfrm>
        </p:spPr>
        <p:txBody>
          <a:bodyPr/>
          <a:lstStyle/>
          <a:p>
            <a:pPr algn="ctr"/>
            <a:r>
              <a:rPr lang="en-IN" dirty="0" err="1">
                <a:latin typeface="StoneSansStd-Medium"/>
              </a:rPr>
              <a:t>SnowFlake</a:t>
            </a:r>
            <a:r>
              <a:rPr lang="en-IN" dirty="0">
                <a:latin typeface="StoneSansStd-Medium"/>
              </a:rPr>
              <a:t> Dimension</a:t>
            </a:r>
            <a:endParaRPr lang="en-IN" dirty="0"/>
          </a:p>
        </p:txBody>
      </p:sp>
      <p:sp>
        <p:nvSpPr>
          <p:cNvPr id="5" name="TextBox 4">
            <a:extLst>
              <a:ext uri="{FF2B5EF4-FFF2-40B4-BE49-F238E27FC236}">
                <a16:creationId xmlns:a16="http://schemas.microsoft.com/office/drawing/2014/main" id="{A59163E3-6A76-54FA-AD30-DB0A635790DD}"/>
              </a:ext>
            </a:extLst>
          </p:cNvPr>
          <p:cNvSpPr txBox="1"/>
          <p:nvPr/>
        </p:nvSpPr>
        <p:spPr>
          <a:xfrm>
            <a:off x="477078" y="1521409"/>
            <a:ext cx="11420061" cy="4893647"/>
          </a:xfrm>
          <a:prstGeom prst="rect">
            <a:avLst/>
          </a:prstGeom>
          <a:noFill/>
        </p:spPr>
        <p:txBody>
          <a:bodyPr wrap="square">
            <a:spAutoFit/>
          </a:bodyPr>
          <a:lstStyle/>
          <a:p>
            <a:pPr algn="l"/>
            <a:r>
              <a:rPr lang="en-GB" sz="2400" b="0" i="0" u="none" strike="noStrike" baseline="0" dirty="0">
                <a:latin typeface="BerkeleyStd-Medium"/>
              </a:rPr>
              <a:t>Snowflake is a complex dimensions as it increases joins. </a:t>
            </a:r>
          </a:p>
          <a:p>
            <a:pPr algn="l"/>
            <a:endParaRPr lang="en-GB" sz="2400" dirty="0">
              <a:latin typeface="BerkeleyStd-Medium"/>
            </a:endParaRPr>
          </a:p>
          <a:p>
            <a:pPr algn="l"/>
            <a:r>
              <a:rPr lang="en-GB" sz="2400" b="0" i="0" u="none" strike="noStrike" baseline="0" dirty="0">
                <a:latin typeface="BerkeleyStd-Medium"/>
              </a:rPr>
              <a:t>It may save diskspace which is insignificant compare to effort and cost of query </a:t>
            </a:r>
          </a:p>
          <a:p>
            <a:pPr algn="l"/>
            <a:endParaRPr lang="en-GB" sz="2400" dirty="0">
              <a:latin typeface="BerkeleyStd-Medium"/>
            </a:endParaRPr>
          </a:p>
          <a:p>
            <a:pPr algn="l"/>
            <a:r>
              <a:rPr lang="en-GB" sz="2400" b="0" i="0" u="none" strike="noStrike" baseline="0" dirty="0">
                <a:latin typeface="BerkeleyStd-Medium"/>
              </a:rPr>
              <a:t>Fixed depth hierarchies should be flattened in dimension tables.</a:t>
            </a:r>
          </a:p>
          <a:p>
            <a:pPr algn="l"/>
            <a:endParaRPr lang="en-GB" sz="2400" b="0" i="0" u="none" strike="noStrike" baseline="0" dirty="0">
              <a:latin typeface="BerkeleyStd-Medium"/>
            </a:endParaRPr>
          </a:p>
          <a:p>
            <a:pPr algn="l"/>
            <a:r>
              <a:rPr lang="en-GB" sz="2400" b="0" i="0" u="none" strike="noStrike" baseline="0" dirty="0">
                <a:latin typeface="BerkeleyStd-Medium"/>
              </a:rPr>
              <a:t>Normalized, snowflake dimension tables penalize cross-attribute browsing and prohibit the use of bitmapped indexes. </a:t>
            </a:r>
          </a:p>
          <a:p>
            <a:pPr algn="l"/>
            <a:endParaRPr lang="en-GB" sz="2400" dirty="0">
              <a:latin typeface="BerkeleyStd-Medium"/>
            </a:endParaRPr>
          </a:p>
          <a:p>
            <a:pPr algn="l"/>
            <a:r>
              <a:rPr lang="en-GB" sz="2400" b="0" i="0" u="none" strike="noStrike" baseline="0" dirty="0">
                <a:latin typeface="BerkeleyStd-Medium"/>
              </a:rPr>
              <a:t>Disk space savings gained by normalizing the dimension tables typically are less than 1 percent of the total disk space needed for the overall schema. You should knowingly sacrifice this dimension table space in the spirit of performance and ease of use advantages.</a:t>
            </a:r>
            <a:endParaRPr lang="en-IN" sz="2400" dirty="0"/>
          </a:p>
        </p:txBody>
      </p:sp>
    </p:spTree>
    <p:extLst>
      <p:ext uri="{BB962C8B-B14F-4D97-AF65-F5344CB8AC3E}">
        <p14:creationId xmlns:p14="http://schemas.microsoft.com/office/powerpoint/2010/main" val="38974528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9A8E1-FB7B-B5D0-B116-716833FAF7E8}"/>
              </a:ext>
            </a:extLst>
          </p:cNvPr>
          <p:cNvSpPr>
            <a:spLocks noGrp="1"/>
          </p:cNvSpPr>
          <p:nvPr>
            <p:ph type="title"/>
          </p:nvPr>
        </p:nvSpPr>
        <p:spPr>
          <a:xfrm>
            <a:off x="2289311" y="52995"/>
            <a:ext cx="8037443" cy="777875"/>
          </a:xfrm>
        </p:spPr>
        <p:txBody>
          <a:bodyPr/>
          <a:lstStyle/>
          <a:p>
            <a:pPr algn="ctr"/>
            <a:r>
              <a:rPr lang="en-IN" dirty="0"/>
              <a:t>Outrigger</a:t>
            </a:r>
          </a:p>
        </p:txBody>
      </p:sp>
      <p:pic>
        <p:nvPicPr>
          <p:cNvPr id="4" name="Picture 3">
            <a:extLst>
              <a:ext uri="{FF2B5EF4-FFF2-40B4-BE49-F238E27FC236}">
                <a16:creationId xmlns:a16="http://schemas.microsoft.com/office/drawing/2014/main" id="{7253623D-4681-BD4E-4AB2-35B89F107532}"/>
              </a:ext>
            </a:extLst>
          </p:cNvPr>
          <p:cNvPicPr>
            <a:picLocks noChangeAspect="1"/>
          </p:cNvPicPr>
          <p:nvPr/>
        </p:nvPicPr>
        <p:blipFill>
          <a:blip r:embed="rId2"/>
          <a:stretch>
            <a:fillRect/>
          </a:stretch>
        </p:blipFill>
        <p:spPr>
          <a:xfrm>
            <a:off x="3136205" y="3821488"/>
            <a:ext cx="6343657" cy="2963639"/>
          </a:xfrm>
          <a:prstGeom prst="rect">
            <a:avLst/>
          </a:prstGeom>
        </p:spPr>
      </p:pic>
      <p:sp>
        <p:nvSpPr>
          <p:cNvPr id="7" name="TextBox 6">
            <a:extLst>
              <a:ext uri="{FF2B5EF4-FFF2-40B4-BE49-F238E27FC236}">
                <a16:creationId xmlns:a16="http://schemas.microsoft.com/office/drawing/2014/main" id="{ED69AD3A-D0FE-00D9-00EA-0A7C6D302848}"/>
              </a:ext>
            </a:extLst>
          </p:cNvPr>
          <p:cNvSpPr txBox="1"/>
          <p:nvPr/>
        </p:nvSpPr>
        <p:spPr>
          <a:xfrm>
            <a:off x="486572" y="932329"/>
            <a:ext cx="11218856" cy="2492990"/>
          </a:xfrm>
          <a:prstGeom prst="rect">
            <a:avLst/>
          </a:prstGeom>
          <a:noFill/>
        </p:spPr>
        <p:txBody>
          <a:bodyPr wrap="square">
            <a:spAutoFit/>
          </a:bodyPr>
          <a:lstStyle/>
          <a:p>
            <a:pPr algn="l"/>
            <a:r>
              <a:rPr lang="en-GB" sz="2600" b="0" i="0" u="none" strike="noStrike" baseline="0" dirty="0">
                <a:latin typeface="BerkeleyStd-Medium"/>
              </a:rPr>
              <a:t>The outrigger date attributes are descriptively and uniquely </a:t>
            </a:r>
            <a:r>
              <a:rPr lang="en-GB" sz="2600" b="0" i="0" u="none" strike="noStrike" baseline="0" dirty="0" err="1">
                <a:latin typeface="BerkeleyStd-Medium"/>
              </a:rPr>
              <a:t>labeled</a:t>
            </a:r>
            <a:r>
              <a:rPr lang="en-GB" sz="2600" b="0" i="0" u="none" strike="noStrike" baseline="0" dirty="0">
                <a:latin typeface="BerkeleyStd-Medium"/>
              </a:rPr>
              <a:t> to distinguish them from the other dates associated with the business process.</a:t>
            </a:r>
          </a:p>
          <a:p>
            <a:pPr algn="l"/>
            <a:endParaRPr lang="en-GB" sz="2600" dirty="0">
              <a:latin typeface="BerkeleyStd-Medium"/>
            </a:endParaRPr>
          </a:p>
          <a:p>
            <a:pPr algn="l"/>
            <a:r>
              <a:rPr lang="en-IN" sz="2600" b="0" i="0" u="none" strike="noStrike" baseline="0" dirty="0">
                <a:latin typeface="BerkeleyStd-Medium"/>
              </a:rPr>
              <a:t>It only makes </a:t>
            </a:r>
            <a:r>
              <a:rPr lang="en-GB" sz="2600" b="0" i="0" u="none" strike="noStrike" baseline="0" dirty="0">
                <a:latin typeface="BerkeleyStd-Medium"/>
              </a:rPr>
              <a:t>sense to outrigger a primary dimension table’s date attribute if the business wants to fi </a:t>
            </a:r>
            <a:r>
              <a:rPr lang="en-GB" sz="2600" b="0" i="0" u="none" strike="noStrike" baseline="0" dirty="0" err="1">
                <a:latin typeface="BerkeleyStd-Medium"/>
              </a:rPr>
              <a:t>lter</a:t>
            </a:r>
            <a:r>
              <a:rPr lang="en-GB" sz="2600" b="0" i="0" u="none" strike="noStrike" baseline="0" dirty="0">
                <a:latin typeface="BerkeleyStd-Medium"/>
              </a:rPr>
              <a:t> and group this date by nonstandard calendar attributes, such as the fiscal period, business day indicator, or holiday period.</a:t>
            </a:r>
            <a:endParaRPr lang="en-IN" sz="2600" dirty="0"/>
          </a:p>
        </p:txBody>
      </p:sp>
    </p:spTree>
    <p:extLst>
      <p:ext uri="{BB962C8B-B14F-4D97-AF65-F5344CB8AC3E}">
        <p14:creationId xmlns:p14="http://schemas.microsoft.com/office/powerpoint/2010/main" val="38141049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676BC-DD30-1FE9-24DA-1F44B7D11DA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D7A4741-4DE0-88B1-D4AF-86FC823D6561}"/>
              </a:ext>
            </a:extLst>
          </p:cNvPr>
          <p:cNvPicPr>
            <a:picLocks noGrp="1" noChangeAspect="1"/>
          </p:cNvPicPr>
          <p:nvPr>
            <p:ph idx="1"/>
          </p:nvPr>
        </p:nvPicPr>
        <p:blipFill>
          <a:blip r:embed="rId2"/>
          <a:stretch>
            <a:fillRect/>
          </a:stretch>
        </p:blipFill>
        <p:spPr>
          <a:xfrm>
            <a:off x="2815305" y="3079194"/>
            <a:ext cx="6561389" cy="1844200"/>
          </a:xfrm>
          <a:prstGeom prst="rect">
            <a:avLst/>
          </a:prstGeom>
        </p:spPr>
      </p:pic>
    </p:spTree>
    <p:extLst>
      <p:ext uri="{BB962C8B-B14F-4D97-AF65-F5344CB8AC3E}">
        <p14:creationId xmlns:p14="http://schemas.microsoft.com/office/powerpoint/2010/main" val="3198480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740</TotalTime>
  <Words>3977</Words>
  <Application>Microsoft Office PowerPoint</Application>
  <PresentationFormat>Widescreen</PresentationFormat>
  <Paragraphs>323</Paragraphs>
  <Slides>42</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BerkeleyStd-Italic</vt:lpstr>
      <vt:lpstr>BerkeleyStd-Medium</vt:lpstr>
      <vt:lpstr>Calibri</vt:lpstr>
      <vt:lpstr>Calibri Light</vt:lpstr>
      <vt:lpstr>StoneSansStd-Medium</vt:lpstr>
      <vt:lpstr>StoneSansStd-MediumItalic</vt:lpstr>
      <vt:lpstr>Office Theme</vt:lpstr>
      <vt:lpstr>Dimensional Model - Retail</vt:lpstr>
      <vt:lpstr>Dimensional Modelling - Retail Sales</vt:lpstr>
      <vt:lpstr>Dimensional Design Process - Select the Business Process</vt:lpstr>
      <vt:lpstr>Dimensional Design Process - Select the Business Process</vt:lpstr>
      <vt:lpstr>Dimensional Design Process – Declare the Grain</vt:lpstr>
      <vt:lpstr>Dimensional Design Process – Identifying Dimensions</vt:lpstr>
      <vt:lpstr>Dimensional Design Process – Identifying Facts</vt:lpstr>
      <vt:lpstr>Retail Case Study </vt:lpstr>
      <vt:lpstr>Retail Case Study </vt:lpstr>
      <vt:lpstr>Retail Case Study - Step 1: Select the Business Process</vt:lpstr>
      <vt:lpstr>Retail Case Study - Step 2: Declare the Grain</vt:lpstr>
      <vt:lpstr>Retail Case Study - Step 3: Identify Dimensions </vt:lpstr>
      <vt:lpstr>Retail Case Study - Step 4: Identify Facts</vt:lpstr>
      <vt:lpstr>Retail Case Study – Derived Facts</vt:lpstr>
      <vt:lpstr>Retail Case Study – Non-Additive Facts</vt:lpstr>
      <vt:lpstr>Retail Case Study – Transaction Facts</vt:lpstr>
      <vt:lpstr>Retail Case Study – Date Dimension</vt:lpstr>
      <vt:lpstr>Retail Case Study – Date Dimensions - Flags and Indicators as Textual Attributes</vt:lpstr>
      <vt:lpstr>Retail Case Study – Date Dimensions - Current and Relative Date Attributes</vt:lpstr>
      <vt:lpstr>Retail Case Study – Date Dimensions – Time of a Day as Dimension or Fact</vt:lpstr>
      <vt:lpstr>Retail Case Study – Date Dimensions – Handling Time-of-Day Data</vt:lpstr>
      <vt:lpstr>Retail Case Study – Product Dimensions</vt:lpstr>
      <vt:lpstr>Retail Case Study – Product Dimensions - Flatten Many-to-One Hierarchies</vt:lpstr>
      <vt:lpstr>Retail Case Study – Product Dimensions – Other Features</vt:lpstr>
      <vt:lpstr>Retail Case Study – Product Dimensions – Drilling Down / Up</vt:lpstr>
      <vt:lpstr>Retail Case Study – Store Dimensions</vt:lpstr>
      <vt:lpstr>Retail Case Study – Promotion Dimensions</vt:lpstr>
      <vt:lpstr>Retail Case Study – Promotion Dimensions Factors</vt:lpstr>
      <vt:lpstr>Retail Case Study – Promotion Dimensions Factors</vt:lpstr>
      <vt:lpstr>Retail Case Study – Promotion Dimensions</vt:lpstr>
      <vt:lpstr>Retail Case Study – Promotion Dimensions</vt:lpstr>
      <vt:lpstr>Retail Case Study – Degenerated Dimension</vt:lpstr>
      <vt:lpstr>Retail Case Study – Retail Sales Schema in Action</vt:lpstr>
      <vt:lpstr>Retail Case Study – Factless Fact</vt:lpstr>
      <vt:lpstr>Dimension Surrogate Key</vt:lpstr>
      <vt:lpstr>Dimension Surrogate Key</vt:lpstr>
      <vt:lpstr>Dimension Natural and Durable Supernatural Keys</vt:lpstr>
      <vt:lpstr>SnowFlake Dimension and Outtrigger</vt:lpstr>
      <vt:lpstr>SnowFlake Dimension</vt:lpstr>
      <vt:lpstr>SnowFlake Dimension</vt:lpstr>
      <vt:lpstr>Outrigger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Wise Mind</dc:creator>
  <cp:lastModifiedBy>Wise Mind</cp:lastModifiedBy>
  <cp:revision>12</cp:revision>
  <dcterms:created xsi:type="dcterms:W3CDTF">2025-04-23T14:50:53Z</dcterms:created>
  <dcterms:modified xsi:type="dcterms:W3CDTF">2025-05-01T17:59:33Z</dcterms:modified>
</cp:coreProperties>
</file>